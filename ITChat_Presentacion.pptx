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Mensajes</c:v>
                </c:pt>
              </c:strCache>
            </c:strRef>
          </c:tx>
          <c:spPr>
            <a:solidFill>
              <a:srgbClr val="2F5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5D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5D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5DA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ham</c:v>
                  </c:pt>
                  <c:pt idx="1">
                    <c:v>spam</c:v>
                  </c:pt>
                  <c:pt idx="2">
                    <c:v>smishing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5133</c:v>
                </c:pt>
                <c:pt idx="1">
                  <c:v>7142</c:v>
                </c:pt>
                <c:pt idx="2">
                  <c:v>7142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9DF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B6472"/>
                </a:solidFill>
                <a:latin typeface="Arial"/>
              </a:defRPr>
            </a:pPr>
            <a:r>
              <a:rPr sz="1100" b="0" i="0" u="none" strike="noStrike">
                <a:solidFill>
                  <a:srgbClr val="5B6472"/>
                </a:solidFill>
                <a:latin typeface="Arial"/>
              </a:rPr>
              <a:t>Macro F1 en el set de prueba (20%)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 (test)</c:v>
                </c:pt>
              </c:strCache>
            </c:strRef>
          </c:tx>
          <c:spPr>
            <a:solidFill>
              <a:srgbClr val="B9C4D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4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C4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5DA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Complement
Naive Bayes</c:v>
                  </c:pt>
                  <c:pt idx="1">
                    <c:v>Regresión
Logística</c:v>
                  </c:pt>
                  <c:pt idx="2">
                    <c:v>Linear SVM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0.812</c:v>
                </c:pt>
                <c:pt idx="1">
                  <c:v>0.889</c:v>
                </c:pt>
                <c:pt idx="2">
                  <c:v>0.892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7"/>
        </c:scaling>
        <c:delete val="0"/>
        <c:axPos val="l"/>
        <c:majorGridlines>
          <c:spPr>
            <a:ln w="6350" cap="flat">
              <a:solidFill>
                <a:srgbClr val="D9DF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ITChat: app de mensajería 1 a 1 que clasifica cada mensaje como ham, spam o smishing en tiempo real. Cubre frontend, backend, ML, base de datos, red física y despliegue en OpenStack.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ITChat resuelve un problema real: el smishing. La clasificación ocurre en el backend al momento del envío, no en el cliente, por lo que la etiqueta es confiable y queda en el histórico.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Arquitectura de microservicios: frontend SPA, backend de negocio, ML service aislado y base de datos. El backend es el único que habla con la BD y con el ML; el frontend nunca toca el modelo directamente.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visual del dashboard: mensajes spam y smishing reales del dataset son detectados al vuelo. El build de producción (npm run build) genera estáticos servidos por nginx.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accesibilidad no depende solo del color: cada etiqueta lleva icono y texto. El estado 'clasificación no disponible' comunica el fallback cuando el ML service no responde.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los endpoints viven bajo /v1. El POST /v1/messages es el corazón: clasifica, persiste y notifica. /health no requiere auth porque lo usa el LB para health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 clave: un socket por usuario en lugar de uno por conversación reduce conexiones abiertas y simplifica el ConnectionManager. La etiqueta ya viene resuelta en el evento, el cliente no calcula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 del diseño: la tabla puente conversation_participants permite N:M sin redundancia (3FN). classification_label se guarda por mensaje, lo que da históricos auditables de amenazas. Las tablas se crean automáticamente al arrancar el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fuerte: dos sistemas JWT separados. Si el token de un usuario se filtra, no sirve para llamar al ML service, y viceversa. La seguridad se repite en cada capa: aplicación, base de datos y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EDA: dataset casi balanceado (solo se capó smishing al tamaño de spam). Hallazgos: ham es corto (~55 caracteres), spam/smishing más largos (~132-138). Las URLs son la señal estructural más fuerte: 23.7% en smishing vs casi 0% en ham.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pipeline completo (preprocesamiento + modelo) se serializa como un solo objeto. Eso elimina el bug clásico de 'el preprocesamiento de producción no coincide con el de entrenamiento'. Entrenamiento reproducible con uv run train-sms-model.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 80/20 estratificado. Linear SVM gana por poco a la regresión logística; Naive Bayes queda claramente abajo a pesar de ser el clásico para texto. La confusión spam↔smishing es esperable: ambas clases son mensajes maliciosos largos con URLs.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Decisión arquitectónica importante: el modelo no vive dentro del backend. Eso permite degradación elegante (unclassified), despliegues independientes y aislamiento de seguridad con su propio JWT de servicio de vida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flujo en vivo si hay demo: enviar un smishing real del dataset y mostrar cómo llega etiquetado al otro usuario en tiempo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 original: router con dos interfaces (g0/0 hacia el Tec con DHCP, g0/1 como gateway 172.20.70.1 de la VLAN), dos switches encadenados y los hosts en 172.20.70.x. El PAT reparte la conexión al resto de la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security group del jump server acepta SSH de 0.0.0.0/0, pero las instancias internas solo aceptan SSH desde 172.20.70.0/24: la única puerta es el jump server. El PAT estático del router traduce 10.49.12.41:22 a la IP privada del jump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las instancias viven en 172.20.70.0/24 y comparten el par de llaves del equipo. El ML service corre junto al backend según ML_SERVICE_URL configurado por entorno. Esta separación por roles cumple el requisito de arquitectura escalable, segura y redundante.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VM se aprovisiona sola al arrancar: paquetes, usuarios con llave SSH, archivos de configuración y servicios. Las plantillas con placeholders separan código de secretos, igual que un .env.example.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backend1 muere, nginx lo detecta por fallos consecutivos y manda todo a backend2 durante 30 segundos antes de reintentar: failover automático sin intervención. Escalar = agregar otra línea server al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niveles de prueba: unitarias/integración del backend, evaluación estadística del modelo y verificación end-to-end sobre la infraestructura real desplegada.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idea central: ITChat demuestra el ciclo completo de un producto — desarrollo, ML aplicado, infraestructura de red y operación en nube — con decisiones justificadas en cada capa.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27248" y="868680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855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941832"/>
            <a:ext cx="164592" cy="1645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383280" y="86868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</a:t>
            </a:r>
            <a:endParaRPr lang="en-US" sz="950" dirty="0"/>
          </a:p>
        </p:txBody>
      </p:sp>
      <p:sp>
        <p:nvSpPr>
          <p:cNvPr id="5" name="Shape 2"/>
          <p:cNvSpPr/>
          <p:nvPr/>
        </p:nvSpPr>
        <p:spPr>
          <a:xfrm>
            <a:off x="4123944" y="868680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7791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4" y="941832"/>
            <a:ext cx="164592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79976" y="86868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5120640" y="868680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941832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376672" y="86868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SMISHING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</a:t>
            </a:r>
            <a:pPr algn="ctr" indent="0" marL="0">
              <a:buNone/>
            </a:pPr>
            <a:r>
              <a:rPr lang="en-US" sz="6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6600" dirty="0"/>
          </a:p>
        </p:txBody>
      </p:sp>
      <p:sp>
        <p:nvSpPr>
          <p:cNvPr id="12" name="Text 7"/>
          <p:cNvSpPr/>
          <p:nvPr/>
        </p:nvSpPr>
        <p:spPr>
          <a:xfrm>
            <a:off x="457200" y="239572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Detecta. Protege. Conversa seguro.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1097280" y="28346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Mensajería en tiempo real con clasificación automática de amenazas mediante Machine Learning,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desplegada sobre infraestructura de red y nube propia (OpenStack).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1051560" y="3657600"/>
            <a:ext cx="2286000" cy="82296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1051560" y="37947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Joseph Shakalo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051560" y="4087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A01784107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3474720" y="3657600"/>
            <a:ext cx="2286000" cy="82296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3474720" y="37947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Edid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3474720" y="4087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A01782146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897880" y="3657600"/>
            <a:ext cx="2286000" cy="82296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5897880" y="37947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 Dayan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897880" y="4087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A01782876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 de Monterrey · Campus Santa Fe · Junio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 DEL PRODUCTO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ITChat?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 de mensajería directa (1 a 1) en tiempo real. Cada mensaje enviado se clasifica al instante con un modelo de Machine Learning; la etiqueta se persiste en la base de datos y el destinatario la recibe vía WebSocket junto con el mensaje.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521208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2395728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423" y="2504359"/>
            <a:ext cx="185075" cy="185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70432" y="2331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70432" y="2596896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legítimo: conversación normal entre usuarios.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3081528"/>
            <a:ext cx="521208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1792" y="3236976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423" y="3345607"/>
            <a:ext cx="185075" cy="185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70432" y="31729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70432" y="34381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Publicidad o mensaje no deseado: promociones, ofertas masivas.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3922776"/>
            <a:ext cx="521208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1792" y="407822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23" y="4186855"/>
            <a:ext cx="185075" cy="18507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40142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smishing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170432" y="4279392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 por SMS: intento de robo de datos o credenciales.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26480" y="1143000"/>
            <a:ext cx="2737888" cy="3566160"/>
          </a:xfrm>
          <a:prstGeom prst="roundRect">
            <a:avLst>
              <a:gd name="adj" fmla="val 2004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21" name="Image 3" descr="img/log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2555008" cy="33832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126480" y="4773168"/>
            <a:ext cx="2737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 inicio de sesión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servicios desacoplados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205740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80844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2011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07008" y="22860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Vite + TS (SPA)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429000" y="182880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205740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036" y="2180844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78808" y="2011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178808" y="22860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SQLAlchemy async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00800" y="123444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65392" y="146304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1586484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50608" y="1417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Service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7150608" y="1691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scikit-learn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0" y="251460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65392" y="274320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8836" y="286664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0608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50608" y="2971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Persistencia relacional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2788920" y="2148840"/>
            <a:ext cx="640080" cy="0"/>
          </a:xfrm>
          <a:prstGeom prst="line">
            <a:avLst/>
          </a:prstGeom>
          <a:noFill/>
          <a:ln w="22225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3429000" y="2468880"/>
            <a:ext cx="-640080" cy="0"/>
          </a:xfrm>
          <a:prstGeom prst="line">
            <a:avLst/>
          </a:prstGeom>
          <a:noFill/>
          <a:ln w="22225">
            <a:solidFill>
              <a:srgbClr val="2F5DA8"/>
            </a:solidFill>
            <a:prstDash val="dash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5760720" y="2057400"/>
            <a:ext cx="640080" cy="-320040"/>
          </a:xfrm>
          <a:prstGeom prst="line">
            <a:avLst/>
          </a:prstGeom>
          <a:noFill/>
          <a:ln w="22225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5760720" y="2514600"/>
            <a:ext cx="640080" cy="320040"/>
          </a:xfrm>
          <a:prstGeom prst="line">
            <a:avLst/>
          </a:prstGeom>
          <a:noFill/>
          <a:ln w="22225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28" name="Text 22"/>
          <p:cNvSpPr/>
          <p:nvPr/>
        </p:nvSpPr>
        <p:spPr>
          <a:xfrm>
            <a:off x="2542032" y="187452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+ JWT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2450592" y="25420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push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4864608" y="129844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+ JWT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servicio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5486400" y="29443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async (psycopg)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457200" y="3886200"/>
            <a:ext cx="2679192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" y="4041648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969264" y="398678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 y dependencias independientes por servicio (uv / npm)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3273552" y="3886200"/>
            <a:ext cx="2679192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9856" y="4041648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3785616" y="398678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Comunicación solo por HTTP y WebSocket: sin acoplamiento</a:t>
            </a:r>
            <a:endParaRPr lang="en-US" sz="1000" dirty="0"/>
          </a:p>
        </p:txBody>
      </p:sp>
      <p:sp>
        <p:nvSpPr>
          <p:cNvPr id="38" name="Shape 30"/>
          <p:cNvSpPr/>
          <p:nvPr/>
        </p:nvSpPr>
        <p:spPr>
          <a:xfrm>
            <a:off x="6089904" y="3886200"/>
            <a:ext cx="2679192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6208" y="4041648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601968" y="398678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servicio se despliega en su propia instancia de OpenStack</a:t>
            </a:r>
            <a:endParaRPr lang="en-US" sz="1000" dirty="0"/>
          </a:p>
        </p:txBody>
      </p:sp>
      <p:sp>
        <p:nvSpPr>
          <p:cNvPr id="41" name="Text 32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· FRONTEND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 en React 18 + TypeScript + Vite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365760" cy="365760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955" y="1324051"/>
            <a:ext cx="168250" cy="168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207008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60120" y="144475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Login/registro (con bio y avatar), Dashboard con sidebar de conversaciones, búsqueda de usuarios y ChatWindow.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2139696"/>
            <a:ext cx="365760" cy="365760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" y="2238451"/>
            <a:ext cx="168250" cy="1682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121408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persistente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960120" y="235915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y datos del usuario en localStorage (itchat-session): la sesión sobrevive recargas.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7200" y="3054096"/>
            <a:ext cx="365760" cy="365760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955" y="3152851"/>
            <a:ext cx="168250" cy="1682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0120" y="3035808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960120" y="327355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useRealtimeMessages: un único WebSocket por usuario autenticado que reacciona a eventos message_created.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57200" y="3968496"/>
            <a:ext cx="365760" cy="365760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955" y="4067251"/>
            <a:ext cx="168250" cy="16825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60120" y="3950208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 de API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960120" y="418795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src/api/chat.ts centraliza el fetch REST y la URL del WebSocket vía VITE_API_URL / VITE_WS_URL.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343400" y="1371600"/>
            <a:ext cx="4617720" cy="2986162"/>
          </a:xfrm>
          <a:prstGeom prst="roundRect">
            <a:avLst>
              <a:gd name="adj" fmla="val 1837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21" name="Image 4" descr="img/dash_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463040"/>
            <a:ext cx="4434840" cy="280328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43400" y="446749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cada mensaje llega con su etiqueta de clasificación en tiempo real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· FRONTEND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UI/UX, accesibilidad y usabilidad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4709160" cy="3032245"/>
          </a:xfrm>
          <a:prstGeom prst="roundRect">
            <a:avLst>
              <a:gd name="adj" fmla="val 1809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5" name="Image 0" descr="img/dash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98448"/>
            <a:ext cx="4526280" cy="28493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312405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claro con toggle persistente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89320" y="1207008"/>
            <a:ext cx="2082018" cy="2926080"/>
          </a:xfrm>
          <a:prstGeom prst="roundRect">
            <a:avLst>
              <a:gd name="adj" fmla="val 2635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8" name="Image 1" descr="img/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298448"/>
            <a:ext cx="1899138" cy="274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89320" y="4206240"/>
            <a:ext cx="20820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 validación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57200" y="4681728"/>
            <a:ext cx="1975104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809744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68172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claro / oscuro persistente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2560320" y="4681728"/>
            <a:ext cx="1975104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048" y="4809744"/>
            <a:ext cx="201168" cy="2011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2926080" y="468172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Badges con color + icono + texto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4663440" y="4681728"/>
            <a:ext cx="1975104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168" y="4809744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029200" y="468172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Estados visibles ante fallos del ML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6766560" y="4681728"/>
            <a:ext cx="1975104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6288" y="4809744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468172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/ ocultar contraseña</a:t>
            </a:r>
            <a:endParaRPr lang="en-US" sz="900" dirty="0"/>
          </a:p>
        </p:txBody>
      </p:sp>
      <p:sp>
        <p:nvSpPr>
          <p:cNvPr id="22" name="Text 14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· BACKEND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 con FastAPI (async)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9436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240280"/>
                <a:gridCol w="548640"/>
                <a:gridCol w="2468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/v1/register · /v1/login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Crear cuenta / iniciar sesión, devuelven JWT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/v1/users/search?query=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Buscar usuarios por nombre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/v1/conversations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Listar chats del usuario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/v1/conversations/direct/{id}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Crear o recuperar chat directo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/v1/direct_messages/{id}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Historial de mensajes de un chat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/v1/messages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Enviar mensaje → clasifica con el ML 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/v1/ws?token=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 push en tiempo real (message_created)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/health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check (lo consume el load balancer)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0" y="1234440"/>
            <a:ext cx="2148840" cy="1115568"/>
          </a:xfrm>
          <a:prstGeom prst="roundRect">
            <a:avLst>
              <a:gd name="adj" fmla="val 491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9984" y="1362456"/>
            <a:ext cx="256032" cy="2560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059168" y="13441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729984" y="1636776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SQLAlchemy 2.0 async + Uvicorn; driver psycopg (Postgres) y aiosqlite (tests).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583680" y="2478024"/>
            <a:ext cx="2148840" cy="1115568"/>
          </a:xfrm>
          <a:prstGeom prst="roundRect">
            <a:avLst>
              <a:gd name="adj" fmla="val 491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984" y="2606040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059168" y="25877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systemd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6729984" y="28803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itchat-backend.service con Restart=always: si el proceso cae, se reinicia solo en 5 s.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83680" y="3721608"/>
            <a:ext cx="2148840" cy="1115568"/>
          </a:xfrm>
          <a:prstGeom prst="roundRect">
            <a:avLst>
              <a:gd name="adj" fmla="val 491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38496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59168" y="383133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Auto-bootstrap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6729984" y="4123944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arrancar crea la BD itchat y sus tablas si no existen: cero pasos manuales.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· BACKEND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 con WebSockets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206240" cy="960120"/>
          </a:xfrm>
          <a:prstGeom prst="roundRect">
            <a:avLst>
              <a:gd name="adj" fmla="val 5714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554480"/>
            <a:ext cx="420624" cy="420624"/>
          </a:xfrm>
          <a:prstGeom prst="ellipse">
            <a:avLst/>
          </a:prstGeom>
          <a:solidFill>
            <a:srgbClr val="2F5DA8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4081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664208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frontend abre /v1/ws?token=&lt;jwt&gt; al iniciar sesión: un solo socket por usuario, no por chat.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395728"/>
            <a:ext cx="4206240" cy="960120"/>
          </a:xfrm>
          <a:prstGeom prst="roundRect">
            <a:avLst>
              <a:gd name="adj" fmla="val 5714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2670048"/>
            <a:ext cx="420624" cy="420624"/>
          </a:xfrm>
          <a:prstGeom prst="ellipse">
            <a:avLst/>
          </a:prstGeom>
          <a:solidFill>
            <a:srgbClr val="2F5DA8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5237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779776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backend valida el JWT del query param y registra la conexión en el ConnectionManager.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511296"/>
            <a:ext cx="4206240" cy="960120"/>
          </a:xfrm>
          <a:prstGeom prst="roundRect">
            <a:avLst>
              <a:gd name="adj" fmla="val 5714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" y="3785616"/>
            <a:ext cx="420624" cy="420624"/>
          </a:xfrm>
          <a:prstGeom prst="ellipse">
            <a:avLst/>
          </a:prstGeom>
          <a:solidFill>
            <a:srgbClr val="2F5DA8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3785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63931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3895344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guardarse un mensaje, el backend emite message_created solo al destinatario conectado.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37760" y="1280160"/>
            <a:ext cx="3794760" cy="3346704"/>
          </a:xfrm>
          <a:prstGeom prst="roundRect">
            <a:avLst>
              <a:gd name="adj" fmla="val 1639"/>
            </a:avLst>
          </a:prstGeom>
          <a:solidFill>
            <a:srgbClr val="232A36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120640" y="1389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recibido por el destinatario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120640" y="1664208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"message_created",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"conversation_id": 1,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"message":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"sender_id": 2,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"content": "Verifica tu cuenta...",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A1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"classification_label": "smishing",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"created_at": "2026-06-08T18:00:00Z"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"sender": { "username": "otro_usuario"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datos relacional (PostgreSQL)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24688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Columnas clave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Relación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id, username, email, password_hash, full_name, bio, avatar_url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conversations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id, created_at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1:N con messages y participants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conversation_participants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conversation_id, user_id (UNIQUE por par)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Puente N:M usuarios ↔ conversaciones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conversation_id, sender_id, content, classification_label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N:1 con conversación y remitente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520440"/>
            <a:ext cx="2679192" cy="1325880"/>
          </a:xfrm>
          <a:prstGeom prst="roundRect">
            <a:avLst>
              <a:gd name="adj" fmla="val 413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3648456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50976" y="3630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Normalización (3FN)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03504" y="3950208"/>
            <a:ext cx="2395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grupos repetidos ni dependencias parciales o transitivas: los participantes viven en su tabla puente, no en una columna-lista.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3273552" y="3520440"/>
            <a:ext cx="2679192" cy="1325880"/>
          </a:xfrm>
          <a:prstGeom prst="roundRect">
            <a:avLst>
              <a:gd name="adj" fmla="val 413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56" y="364845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767328" y="3630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Históricos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3419856" y="3950208"/>
            <a:ext cx="2395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mensaje queda persistido con su classification_label y created_at: el historial conserva la evidencia de amenazas.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6089904" y="3520440"/>
            <a:ext cx="2679192" cy="1325880"/>
          </a:xfrm>
          <a:prstGeom prst="roundRect">
            <a:avLst>
              <a:gd name="adj" fmla="val 413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36484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583680" y="3630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Producción vs tests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6236208" y="3950208"/>
            <a:ext cx="2395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(psycopg async) en producción; SQLite en memoria (aiosqlite) en tests.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Defensa en capas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114800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3504" y="1380744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97" y="1484437"/>
            <a:ext cx="176662" cy="1766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5568" y="135331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Contraseñas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15568" y="1618488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PBKDF2-HMAC-SHA256 con 600,000 iteraciones + salt aleatorio por usuario. Nunca se guarda texto plano.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09160" y="1234440"/>
            <a:ext cx="4114800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55464" y="1380744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9157" y="1484437"/>
            <a:ext cx="176662" cy="1766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67528" y="135331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de usuario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367528" y="1618488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Login/registro devuelven token firmado (HS256, expira en 60 min). Endpoints protegidos exigen Authorization: Bearer.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57200" y="2441448"/>
            <a:ext cx="4114800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03504" y="2587752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97" y="2691445"/>
            <a:ext cx="176662" cy="1766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15568" y="25603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service-to-service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15568" y="2825496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↔ ML service usan un segundo sistema JWT con secreto, issuer, audience y subject propios, y expiración de 60 segundos.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709160" y="2441448"/>
            <a:ext cx="4114800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55464" y="2587752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9157" y="2691445"/>
            <a:ext cx="176662" cy="1766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67528" y="25603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datos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367528" y="2825496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pg_hba.conf solo acepta conexiones del CIDR de los backends, con autenticación scram-sha-256.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57200" y="3648456"/>
            <a:ext cx="4114800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03504" y="3794760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97" y="3898453"/>
            <a:ext cx="176662" cy="1766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115568" y="3767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115568" y="4032504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Hacia la red del Tec solo se exponen los puertos 443 y 22; SSH únicamente a través del jump server.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709160" y="3648456"/>
            <a:ext cx="4114800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855464" y="3794760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9157" y="3898453"/>
            <a:ext cx="176662" cy="1766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367528" y="3767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5367528" y="4032504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CORS_ALLOW_ORIGINS limita el origen del frontend permitido en producción.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 tres fuentes reales reconciliadas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160520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25880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Mishra &amp; Soni (2022)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5636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Mendeley · CC BY 4.0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647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 principal: ya trae las 3 clases (ham, spam, smishing).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4160520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350008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UCI SMS Spam Collection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5877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clásico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Refuerza ham y spam.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4160520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374136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Smishing Dataset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361188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Hosseinpour et al.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8130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 varias fuentes públicas; refuerza smishing y spam.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4370832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Reconciliación: esquema común LABEL/TEXT, normalización de etiquetas, deduplicación entre fuentes, mismos regex para indicadores URL/EMAIL/PHONE y cap de smishing para balancear.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3480" y="1234440"/>
            <a:ext cx="3749040" cy="960120"/>
          </a:xfrm>
          <a:prstGeom prst="roundRect">
            <a:avLst>
              <a:gd name="adj" fmla="val 5714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83480" y="1325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19,417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720840" y="13898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SMS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consolidados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983480" y="2377440"/>
          <a:ext cx="3749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clasificación (scikit-learn)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2240280"/>
          </a:xfrm>
          <a:prstGeom prst="roundRect">
            <a:avLst>
              <a:gd name="adj" fmla="val 2449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3504" y="151790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135" y="1626535"/>
            <a:ext cx="185075" cy="185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5568" y="155448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FeatureBuilder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58368" y="201168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clean_text: minúsculas; URLs → __url__, emails → __email__, teléfonos → __phone__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message_length y word_count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digit_count y exclamation_count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560320" cy="2240280"/>
          </a:xfrm>
          <a:prstGeom prst="roundRect">
            <a:avLst>
              <a:gd name="adj" fmla="val 2449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38144" y="151790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6775" y="1626535"/>
            <a:ext cx="185075" cy="1850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50208" y="155448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ColumnTransformer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493008" y="201168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(1–2 gramas) sobre clean_text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MaxAbsScaler sobre las 4 features numéricas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todo en una sola matriz de features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126480" y="1371600"/>
            <a:ext cx="2606040" cy="2240280"/>
          </a:xfrm>
          <a:prstGeom prst="roundRect">
            <a:avLst>
              <a:gd name="adj" fmla="val 2449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51790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415" y="1626535"/>
            <a:ext cx="185075" cy="1850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84848" y="1554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LinearSVC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27648" y="2011680"/>
            <a:ext cx="2240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Clasificador lineal de margen máximo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Elegido tras comparar 3 modelos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Serializado como sms_linear_svm.pkl y cargado con pickle al arrancar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3017520" y="2468880"/>
            <a:ext cx="274320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5852160" y="2468880"/>
            <a:ext cx="274320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457200" y="3886200"/>
            <a:ext cx="8275320" cy="868680"/>
          </a:xfrm>
          <a:prstGeom prst="roundRect">
            <a:avLst>
              <a:gd name="adj" fmla="val 6316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09651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51560" y="3986784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código en entrenamiento y producción: </a:t>
            </a:r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FeatureBuilder es un transformer custom dentro del pipeline, así que el .pkl aplica exactamente el mismo preprocesamiento que se usó al entrenar — sin divergencia entre notebook y servicio.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 de modelos y resultados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46634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40680" y="1325880"/>
            <a:ext cx="3291840" cy="749808"/>
          </a:xfrm>
          <a:prstGeom prst="roundRect">
            <a:avLst>
              <a:gd name="adj" fmla="val 7317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532120" y="1399032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0.886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812280" y="139903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del Linear SVM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40680" y="2194560"/>
            <a:ext cx="3291840" cy="749808"/>
          </a:xfrm>
          <a:prstGeom prst="roundRect">
            <a:avLst>
              <a:gd name="adj" fmla="val 7317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532120" y="2267712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0.892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6812280" y="22677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 del Linear SVM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40680" y="3063240"/>
            <a:ext cx="3291840" cy="749808"/>
          </a:xfrm>
          <a:prstGeom prst="roundRect">
            <a:avLst>
              <a:gd name="adj" fmla="val 7317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532120" y="3136392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6812280" y="313639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de la clase ham (la más fácil de separar)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40680" y="3931920"/>
            <a:ext cx="3291840" cy="868680"/>
          </a:xfrm>
          <a:prstGeom prst="roundRect">
            <a:avLst>
              <a:gd name="adj" fmla="val 6316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404164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897880" y="4005072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errores restantes ocurren casi todos entre spam y smishing (F1 ≈ 0.86 cada una): comparten lenguaje urgente, links y estructura.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como microservicio aislado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200400" cy="1143000"/>
          </a:xfrm>
          <a:prstGeom prst="roundRect">
            <a:avLst>
              <a:gd name="adj" fmla="val 4800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3504" y="17236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010" y="1842150"/>
            <a:ext cx="201900" cy="201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70432" y="15179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70432" y="1801368"/>
            <a:ext cx="2359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recibir POST /v1/messages genera un JWT de servicio (iss/aud/sub propios, expira en 60 s) y llama al ML service vía httpx.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86400" y="1371600"/>
            <a:ext cx="3246120" cy="1143000"/>
          </a:xfrm>
          <a:prstGeom prst="roundRect">
            <a:avLst>
              <a:gd name="adj" fmla="val 4800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32704" y="17236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210" y="1842150"/>
            <a:ext cx="201900" cy="201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199632" y="15179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Service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199632" y="1801368"/>
            <a:ext cx="2404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/predict valida firma, issuer y audience antes de ejecutar el pipeline y regresar {"label": ...}.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3749040" y="1783080"/>
            <a:ext cx="1645920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394960" y="2194560"/>
            <a:ext cx="-1645920" cy="0"/>
          </a:xfrm>
          <a:prstGeom prst="line">
            <a:avLst/>
          </a:prstGeom>
          <a:noFill/>
          <a:ln w="25400">
            <a:solidFill>
              <a:srgbClr val="8A99B5"/>
            </a:solidFill>
            <a:prstDash val="dash"/>
            <a:tailEnd type="triangle"/>
          </a:ln>
        </p:spPr>
      </p:sp>
      <p:sp>
        <p:nvSpPr>
          <p:cNvPr id="16" name="Text 12"/>
          <p:cNvSpPr/>
          <p:nvPr/>
        </p:nvSpPr>
        <p:spPr>
          <a:xfrm>
            <a:off x="3657600" y="151790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/predict + JWT 60 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611880" y="226771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label: ham | spam | smishing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57200" y="2926080"/>
            <a:ext cx="2679192" cy="1691640"/>
          </a:xfrm>
          <a:prstGeom prst="roundRect">
            <a:avLst>
              <a:gd name="adj" fmla="val 3243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3504" y="30723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35" y="3181015"/>
            <a:ext cx="185075" cy="18507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3504" y="356616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Resiliencia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03504" y="384048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ML falla o excede el timeout (5 s), el mensaje se guarda como “unclassified”: el chat nunca se bloquea por el modelo.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3273552" y="2926080"/>
            <a:ext cx="2679192" cy="1691640"/>
          </a:xfrm>
          <a:prstGeom prst="roundRect">
            <a:avLst>
              <a:gd name="adj" fmla="val 3243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419856" y="30723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487" y="3181015"/>
            <a:ext cx="185075" cy="18507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3419856" y="356616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Escalamiento independiente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3419856" y="384048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servicio de inferencia puede escalar o actualizarse (nuevo .pkl) sin tocar el backend ni el frontend.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6089904" y="2926080"/>
            <a:ext cx="2679192" cy="1691640"/>
          </a:xfrm>
          <a:prstGeom prst="roundRect">
            <a:avLst>
              <a:gd name="adj" fmla="val 3243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6236208" y="30723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4839" y="3181015"/>
            <a:ext cx="185075" cy="185075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236208" y="356616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Superficie de ataque aislada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6236208" y="384048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ML service solo acepta tokens del backend; jamás recibe tráfico directo de usuarios.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Vida de un mensaje, de extremo a extremo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55648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191" y="1908719"/>
            <a:ext cx="260787" cy="2607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30352" y="2487168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Envío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2798064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emisor escribe y el frontend hace POST /v1/messages con su JWT.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048256" y="2697480"/>
            <a:ext cx="146304" cy="0"/>
          </a:xfrm>
          <a:prstGeom prst="line">
            <a:avLst/>
          </a:prstGeom>
          <a:noFill/>
          <a:ln w="22225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194560" y="15544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697480" y="1755648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551" y="1908719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267712" y="2487168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Clasificación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2304288" y="2798064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backend pide la predicción al ML service con un JWT de servicio de 60 s.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3785616" y="2697480"/>
            <a:ext cx="146304" cy="0"/>
          </a:xfrm>
          <a:prstGeom prst="line">
            <a:avLst/>
          </a:prstGeom>
          <a:noFill/>
          <a:ln w="22225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931920" y="15544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434840" y="1755648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911" y="1908719"/>
            <a:ext cx="260787" cy="26078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005072" y="2487168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Persistencia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041648" y="2798064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mensaje se guarda en PostgreSQL con su classification_label.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5522976" y="2697480"/>
            <a:ext cx="146304" cy="0"/>
          </a:xfrm>
          <a:prstGeom prst="line">
            <a:avLst/>
          </a:prstGeom>
          <a:noFill/>
          <a:ln w="22225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669280" y="15544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172200" y="1755648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5271" y="1908719"/>
            <a:ext cx="260787" cy="26078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742432" y="2487168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Push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5779008" y="2798064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emite message_created por WebSocket al destinatario conectado.</a:t>
            </a:r>
            <a:endParaRPr lang="en-US" sz="850" dirty="0"/>
          </a:p>
        </p:txBody>
      </p:sp>
      <p:sp>
        <p:nvSpPr>
          <p:cNvPr id="27" name="Shape 21"/>
          <p:cNvSpPr/>
          <p:nvPr/>
        </p:nvSpPr>
        <p:spPr>
          <a:xfrm>
            <a:off x="7260336" y="2697480"/>
            <a:ext cx="146304" cy="0"/>
          </a:xfrm>
          <a:prstGeom prst="line">
            <a:avLst/>
          </a:prstGeom>
          <a:noFill/>
          <a:ln w="22225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406640" y="15544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909560" y="1755648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2631" y="1908719"/>
            <a:ext cx="260787" cy="260787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479792" y="2487168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Alerta visual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7516368" y="2798064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destinatario ve el mensaje con su badge: ham, spam o smishing.</a:t>
            </a:r>
            <a:endParaRPr lang="en-US" sz="850" dirty="0"/>
          </a:p>
        </p:txBody>
      </p:sp>
      <p:sp>
        <p:nvSpPr>
          <p:cNvPr id="33" name="Shape 26"/>
          <p:cNvSpPr/>
          <p:nvPr/>
        </p:nvSpPr>
        <p:spPr>
          <a:xfrm>
            <a:off x="457200" y="4160520"/>
            <a:ext cx="8275320" cy="658368"/>
          </a:xfrm>
          <a:prstGeom prst="roundRect">
            <a:avLst>
              <a:gd name="adj" fmla="val 8333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352544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024128" y="4224528"/>
            <a:ext cx="7543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Latencia percibida mínima: la clasificación ocurre dentro del mismo request de envío y el destinatario recibe el mensaje ya etiquetado — sin estados intermedios visibles.</a:t>
            </a:r>
            <a:endParaRPr lang="en-US" sz="1050" dirty="0"/>
          </a:p>
        </p:txBody>
      </p:sp>
      <p:sp>
        <p:nvSpPr>
          <p:cNvPr id="36" name="Text 28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Topología física de la red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554480" cy="914400"/>
          </a:xfrm>
          <a:prstGeom prst="cloud">
            <a:avLst/>
          </a:prstGeom>
          <a:solidFill>
            <a:srgbClr val="EBEFF5"/>
          </a:solidFill>
          <a:ln w="12700">
            <a:solidFill>
              <a:srgbClr val="8A99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(Internet)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3108960"/>
            <a:ext cx="1554480" cy="914400"/>
          </a:xfrm>
          <a:prstGeom prst="cloud">
            <a:avLst/>
          </a:prstGeom>
          <a:solidFill>
            <a:srgbClr val="EBEFF5"/>
          </a:solidFill>
          <a:ln w="12700">
            <a:solidFill>
              <a:srgbClr val="8A99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1089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(OpenStack)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1760" y="2194560"/>
            <a:ext cx="1051560" cy="1051560"/>
          </a:xfrm>
          <a:prstGeom prst="ellipse">
            <a:avLst/>
          </a:prstGeom>
          <a:solidFill>
            <a:srgbClr val="F5F7FA"/>
          </a:solidFill>
          <a:ln w="19050">
            <a:solidFill>
              <a:srgbClr val="2F5D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2194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03120" y="34015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g0/0 · DHCP del Tec (10.49.x.x)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103120" y="36393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g0/1 · GW 172.20.70.1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0" y="1554480"/>
            <a:ext cx="1371600" cy="6858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5875">
            <a:solidFill>
              <a:srgbClr val="8A99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554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0" y="1554480"/>
            <a:ext cx="1371600" cy="6858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5875">
            <a:solidFill>
              <a:srgbClr val="8A99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554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288036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 w="15875">
            <a:solidFill>
              <a:srgbClr val="8A99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28803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 backend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172.20.70.x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011680" y="1920240"/>
            <a:ext cx="731520" cy="548640"/>
          </a:xfrm>
          <a:prstGeom prst="line">
            <a:avLst/>
          </a:prstGeom>
          <a:noFill/>
          <a:ln w="19050">
            <a:solidFill>
              <a:srgbClr val="8A99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3566160"/>
            <a:ext cx="731520" cy="-548640"/>
          </a:xfrm>
          <a:prstGeom prst="line">
            <a:avLst/>
          </a:prstGeom>
          <a:noFill/>
          <a:ln w="19050">
            <a:solidFill>
              <a:srgbClr val="8A99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03320" y="2377440"/>
            <a:ext cx="868680" cy="-411480"/>
          </a:xfrm>
          <a:prstGeom prst="line">
            <a:avLst/>
          </a:prstGeom>
          <a:noFill/>
          <a:ln w="19050">
            <a:solidFill>
              <a:srgbClr val="8A99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1874520"/>
            <a:ext cx="640080" cy="0"/>
          </a:xfrm>
          <a:prstGeom prst="line">
            <a:avLst/>
          </a:prstGeom>
          <a:noFill/>
          <a:ln w="19050">
            <a:solidFill>
              <a:srgbClr val="8A99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2240280"/>
            <a:ext cx="274320" cy="640080"/>
          </a:xfrm>
          <a:prstGeom prst="line">
            <a:avLst/>
          </a:prstGeom>
          <a:noFill/>
          <a:ln w="19050">
            <a:solidFill>
              <a:srgbClr val="8A99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400" y="1325880"/>
            <a:ext cx="4389120" cy="2606040"/>
          </a:xfrm>
          <a:prstGeom prst="roundRect">
            <a:avLst>
              <a:gd name="adj" fmla="val 4211"/>
            </a:avLst>
          </a:prstGeom>
          <a:solidFill>
            <a:srgbClr val="2F5DA8">
              <a:alpha val="5000"/>
            </a:srgbClr>
          </a:solidFill>
          <a:ln w="15875">
            <a:solidFill>
              <a:srgbClr val="2F5DA8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4480560" y="36576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del equipo · 172.20.70.0/24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 en el router: reparte la salida a internet a toda la subred privada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Hacia la red del Tec solo se exponen los puertos 443 (HTTPS) y 22 (SSH)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VLAN conecta las premisas físicas con la nube OpenStack del laboratorio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· ACCESO SEGURO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 server: un solo punto de entrada SSH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874520" cy="1737360"/>
          </a:xfrm>
          <a:prstGeom prst="roundRect">
            <a:avLst>
              <a:gd name="adj" fmla="val 315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06424" y="1627632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9495" y="1780703"/>
            <a:ext cx="260787" cy="2607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30352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2615184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10.49.x.x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359152" y="2331720"/>
            <a:ext cx="228600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24328" y="1463040"/>
            <a:ext cx="1874520" cy="1737360"/>
          </a:xfrm>
          <a:prstGeom prst="roundRect">
            <a:avLst>
              <a:gd name="adj" fmla="val 315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73552" y="1627632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6623" y="1780703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97480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(PAT)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715768" y="2615184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10.49.12.41:22 →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172.20.70.187:22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526280" y="2331720"/>
            <a:ext cx="228600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791456" y="1463040"/>
            <a:ext cx="1874520" cy="1737360"/>
          </a:xfrm>
          <a:prstGeom prst="roundRect">
            <a:avLst>
              <a:gd name="adj" fmla="val 315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440680" y="1627632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3751" y="1780703"/>
            <a:ext cx="260787" cy="26078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864608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 server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882896" y="2615184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172.20.70.187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llave privada RSA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6693408" y="2331720"/>
            <a:ext cx="228600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958584" y="1463040"/>
            <a:ext cx="1874520" cy="1737360"/>
          </a:xfrm>
          <a:prstGeom prst="roundRect">
            <a:avLst>
              <a:gd name="adj" fmla="val 315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607808" y="1627632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0879" y="1780703"/>
            <a:ext cx="260787" cy="26078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31736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Instancias privadas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7050024" y="2615184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172.20.70.x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 solo desde /24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457200" y="3520440"/>
            <a:ext cx="8275320" cy="1234440"/>
          </a:xfrm>
          <a:prstGeom prst="roundRect">
            <a:avLst>
              <a:gd name="adj" fmla="val 4444"/>
            </a:avLst>
          </a:prstGeom>
          <a:solidFill>
            <a:srgbClr val="232A36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640080" y="3630168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 desde la laptop (autenticación solo por llave)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640080" y="3913632"/>
            <a:ext cx="7909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ssh -i ~/Desktop/llave.txt -o PubkeyAcceptedKeyTypes=+ssh-rsa debian@10.49.12.41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ssh -i ~/llave.txt debian@&lt;IP_INSTANCIA&gt;   </a:t>
            </a:r>
            <a:pPr indent="0" marL="0">
              <a:buNone/>
            </a:pPr>
            <a:r>
              <a:rPr lang="en-US" sz="1100" i="1" dirty="0">
                <a:solidFill>
                  <a:srgbClr val="7E8A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desde el jump server hacia la red privada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 en OpenStack: 6 instancias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194560" cy="1005840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444752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32688" y="14264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frontend-gjm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17373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sirve el build estático de Vite (SPA fallback con try_files).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2194560" cy="1005840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63347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32688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lb-gjm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85216" y="2926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como load balancer L7 hacia los dos backends.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291840" y="1325880"/>
            <a:ext cx="2194560" cy="1005840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56" y="1444752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67328" y="14264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backend1-gjm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419856" y="17373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como servicio systemd (Restart=always).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3291840" y="2514600"/>
            <a:ext cx="2194560" cy="1005840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856" y="2633472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767328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backend2-gjm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3419856" y="2926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Réplica idéntica: redundancia activa-activa.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126480" y="1325880"/>
            <a:ext cx="2194560" cy="1005840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1444752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601968" y="14264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db-gjm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254496" y="17373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dedicado; acceso solo desde el CIDR de backends.</a:t>
            </a:r>
            <a:endParaRPr lang="en-US" sz="850" dirty="0"/>
          </a:p>
        </p:txBody>
      </p:sp>
      <p:sp>
        <p:nvSpPr>
          <p:cNvPr id="24" name="Shape 17"/>
          <p:cNvSpPr/>
          <p:nvPr/>
        </p:nvSpPr>
        <p:spPr>
          <a:xfrm>
            <a:off x="6126480" y="2514600"/>
            <a:ext cx="2194560" cy="1005840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633472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01968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jump-server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6254496" y="2926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Único punto de administración SSH de toda la red.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2670048" y="2834640"/>
            <a:ext cx="594360" cy="-914400"/>
          </a:xfrm>
          <a:prstGeom prst="line">
            <a:avLst/>
          </a:prstGeom>
          <a:noFill/>
          <a:ln w="19050">
            <a:solidFill>
              <a:srgbClr val="8A99B5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2670048" y="3017520"/>
            <a:ext cx="594360" cy="0"/>
          </a:xfrm>
          <a:prstGeom prst="line">
            <a:avLst/>
          </a:prstGeom>
          <a:noFill/>
          <a:ln w="19050">
            <a:solidFill>
              <a:srgbClr val="8A99B5"/>
            </a:solidFill>
            <a:prstDash val="solid"/>
            <a:tailEnd type="triangle"/>
          </a:ln>
        </p:spPr>
      </p:sp>
      <p:sp>
        <p:nvSpPr>
          <p:cNvPr id="30" name="Shape 22"/>
          <p:cNvSpPr/>
          <p:nvPr/>
        </p:nvSpPr>
        <p:spPr>
          <a:xfrm>
            <a:off x="5504688" y="1828800"/>
            <a:ext cx="594360" cy="0"/>
          </a:xfrm>
          <a:prstGeom prst="line">
            <a:avLst/>
          </a:prstGeom>
          <a:noFill/>
          <a:ln w="19050">
            <a:solidFill>
              <a:srgbClr val="8A99B5"/>
            </a:solidFill>
            <a:prstDash val="solid"/>
            <a:tailEnd type="triangle"/>
          </a:ln>
        </p:spPr>
      </p:sp>
      <p:sp>
        <p:nvSpPr>
          <p:cNvPr id="31" name="Shape 23"/>
          <p:cNvSpPr/>
          <p:nvPr/>
        </p:nvSpPr>
        <p:spPr>
          <a:xfrm>
            <a:off x="5504688" y="3017520"/>
            <a:ext cx="594360" cy="-1097280"/>
          </a:xfrm>
          <a:prstGeom prst="line">
            <a:avLst/>
          </a:prstGeom>
          <a:noFill/>
          <a:ln w="19050">
            <a:solidFill>
              <a:srgbClr val="8A99B5"/>
            </a:solidFill>
            <a:prstDash val="solid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457200" y="3794760"/>
            <a:ext cx="8275320" cy="1005840"/>
          </a:xfrm>
          <a:prstGeom prst="roundRect">
            <a:avLst>
              <a:gd name="adj" fmla="val 5455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950208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024128" y="3886200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escalable, seguro y redundante: </a:t>
            </a:r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LB permite agregar más backends sin tocar el frontend; los security groups restringen cada capa (SSH solo desde la /24, Postgres solo desde los backends); y la caída de un backend no tira el servicio.</a:t>
            </a:r>
            <a:endParaRPr lang="en-US" sz="1050" dirty="0"/>
          </a:p>
        </p:txBody>
      </p:sp>
      <p:sp>
        <p:nvSpPr>
          <p:cNvPr id="35" name="Text 26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NUBE · CONFIGURACIONES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como código con cloud-init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892040" cy="804672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344168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50976" y="1307592"/>
            <a:ext cx="4297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gjm-front-cloud-init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50976" y="1563624"/>
            <a:ext cx="4315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 Node 20 + nginx, clona el repo, hace npm ci &amp;&amp; npm run build y publica dist/ en /var/www/html.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2148840"/>
            <a:ext cx="4892040" cy="804672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5856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50976" y="2221992"/>
            <a:ext cx="4297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gjm-back{1,2}-cloud-init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950976" y="2478024"/>
            <a:ext cx="4315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 uv, clona el repo, escribe /etc/itchat/backend.env y registra itchat-backend.service en systemd.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57200" y="3063240"/>
            <a:ext cx="4892040" cy="804672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50976" y="3136392"/>
            <a:ext cx="4297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gjm-db-cloud-init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950976" y="3392424"/>
            <a:ext cx="4315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 PostgreSQL, habilita listen_addresses='*' y restringe pg_hba al CIDR de backends con scram-sha-256.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457200" y="3977640"/>
            <a:ext cx="4892040" cy="804672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0873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50976" y="4050792"/>
            <a:ext cx="4297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gjm-lb-cloud-init + itchat.conf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950976" y="4306824"/>
            <a:ext cx="4315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Despliega el nginx balanceador con el upstream de los dos backends.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5577840" y="1234440"/>
            <a:ext cx="3154680" cy="1115568"/>
          </a:xfrm>
          <a:prstGeom prst="roundRect">
            <a:avLst>
              <a:gd name="adj" fmla="val 4918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5724144" y="1371600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2899" y="1470355"/>
            <a:ext cx="168250" cy="16825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199632" y="13807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5724144" y="1709928"/>
            <a:ext cx="2852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Levantar una instancia nueva = pegar su cloud-init. Cero configuración manual.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5577840" y="2478024"/>
            <a:ext cx="3154680" cy="1115568"/>
          </a:xfrm>
          <a:prstGeom prst="roundRect">
            <a:avLst>
              <a:gd name="adj" fmla="val 4918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5724144" y="2615184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2899" y="2713939"/>
            <a:ext cx="168250" cy="16825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199632" y="26243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Secretos como plantilla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5724144" y="2953512"/>
            <a:ext cx="2852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Placeholders (__JWT_SECRET_KEY__, __DB_PRIVATE_IP__) se inyectan al desplegar: nada sensible en el repo.</a:t>
            </a:r>
            <a:endParaRPr lang="en-US" sz="950" dirty="0"/>
          </a:p>
        </p:txBody>
      </p:sp>
      <p:sp>
        <p:nvSpPr>
          <p:cNvPr id="30" name="Shape 22"/>
          <p:cNvSpPr/>
          <p:nvPr/>
        </p:nvSpPr>
        <p:spPr>
          <a:xfrm>
            <a:off x="5577840" y="3721608"/>
            <a:ext cx="3154680" cy="1115568"/>
          </a:xfrm>
          <a:prstGeom prst="roundRect">
            <a:avLst>
              <a:gd name="adj" fmla="val 4918"/>
            </a:avLst>
          </a:prstGeom>
          <a:solidFill>
            <a:srgbClr val="EBEFF5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5724144" y="385876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2899" y="3957523"/>
            <a:ext cx="168250" cy="16825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199632" y="38679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Auto-recuperación</a:t>
            </a:r>
            <a:endParaRPr lang="en-US" sz="1200" dirty="0"/>
          </a:p>
        </p:txBody>
      </p:sp>
      <p:sp>
        <p:nvSpPr>
          <p:cNvPr id="34" name="Text 25"/>
          <p:cNvSpPr/>
          <p:nvPr/>
        </p:nvSpPr>
        <p:spPr>
          <a:xfrm>
            <a:off x="5724144" y="4197096"/>
            <a:ext cx="2852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systemd reinicia el backend ante cualquier caída (RestartSec=5).</a:t>
            </a:r>
            <a:endParaRPr lang="en-US" sz="950" dirty="0"/>
          </a:p>
        </p:txBody>
      </p:sp>
      <p:sp>
        <p:nvSpPr>
          <p:cNvPr id="35" name="Text 26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NUBE · ALTA DISPONIBILIDAD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nginx: escalable y redundante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297680" cy="3474720"/>
          </a:xfrm>
          <a:prstGeom prst="roundRect">
            <a:avLst>
              <a:gd name="adj" fmla="val 1579"/>
            </a:avLst>
          </a:prstGeom>
          <a:solidFill>
            <a:srgbClr val="232A36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8988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/etc/nginx/conf.d/itchat.conf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3977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 itchat_backend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least_conn;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server back1:8000 max_fails=3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fail_timeout=30s;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server back2:8000 max_fails=3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fail_timeout=30s;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keepalive 32;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 /v1/ws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proxy_set_header Upgrade ...;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proxy_read_timeout 3600s;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0" y="1298448"/>
            <a:ext cx="365760" cy="365760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7955" y="1397203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532120" y="128016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least_conn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532120" y="152704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request va al backend con menos conexiones activas: mejor que round-robin con WebSockets de larga vida.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029200" y="2185416"/>
            <a:ext cx="365760" cy="365760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955" y="2284171"/>
            <a:ext cx="168250" cy="16825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216712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checks pasivos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532120" y="241401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3 fallos, el backend se saca de rotación 30 s. /health sin auth permite sondear el estado.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0" y="3072384"/>
            <a:ext cx="365760" cy="365760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7955" y="3171139"/>
            <a:ext cx="168250" cy="1682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532120" y="305409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WebSockets de larga vida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532120" y="33009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 de protocolo en /v1/ws y proxy_read_timeout de 1 h para no cortar sockets activos.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029200" y="3959352"/>
            <a:ext cx="365760" cy="365760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7955" y="4058107"/>
            <a:ext cx="168250" cy="16825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32120" y="394106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keepalive 32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532120" y="418795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Reutiliza conexiones LB→backend, reduciendo latencia por handshake.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realizadas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79192" cy="3429000"/>
          </a:xfrm>
          <a:prstGeom prst="roundRect">
            <a:avLst>
              <a:gd name="adj" fmla="val 204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3504" y="1444752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010" y="1563258"/>
            <a:ext cx="201900" cy="201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" y="2011680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· 17 tests (pytest)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2514600"/>
            <a:ext cx="23408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Corren con SQLite en memoria y un stub del modelo: no requieren Postgres ni el .pkl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Cubren auth, conversaciones, mensajes y el contrato con el ML service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 run pytest en CI o local, en segundos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73552" y="1280160"/>
            <a:ext cx="2679192" cy="3429000"/>
          </a:xfrm>
          <a:prstGeom prst="roundRect">
            <a:avLst>
              <a:gd name="adj" fmla="val 204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19856" y="1444752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362" y="1563258"/>
            <a:ext cx="201900" cy="201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19856" y="2011680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· Evaluación formal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56432" y="2514600"/>
            <a:ext cx="23408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80/20 estratificado por clase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report y matrices de confusión por modelo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con mensajes nuevos fuera del dataset (sanity check)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089904" y="1280160"/>
            <a:ext cx="2679192" cy="3429000"/>
          </a:xfrm>
          <a:prstGeom prst="roundRect">
            <a:avLst>
              <a:gd name="adj" fmla="val 2048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36208" y="1444752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714" y="1563258"/>
            <a:ext cx="201900" cy="201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36208" y="2011680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· End-to-end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72784" y="2514600"/>
            <a:ext cx="23408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checks del LB contra /health de cada backend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Conectividad SSH por la cadena laptop → PAT → jump → instancias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completo verificado: login, chat y clasificación en vivo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trabajo futuro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52728"/>
            <a:ext cx="384048" cy="384048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893" y="1356421"/>
            <a:ext cx="176662" cy="1766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1234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completo y funcional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87552" y="1490472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UI al fierro: SPA, API, ML, base de datos, VLAN propia y despliegue automatizado en OpenStack.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2121408"/>
            <a:ext cx="384048" cy="384048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93" y="2225101"/>
            <a:ext cx="176662" cy="17666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87552" y="2103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honesto y explicable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987552" y="2359152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SVM con macro F1 de 0.892 sobre 19,417 mensajes reales; los errores restantes están entre spam y smishing, las clases más parecidas.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7200" y="2990088"/>
            <a:ext cx="384048" cy="384048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93" y="3093781"/>
            <a:ext cx="176662" cy="17666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87552" y="2971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en cada capa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987552" y="3227832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PBKDF2, doble JWT, scram-sha-256, security groups y un único punto de entrada SSH.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57200" y="3858768"/>
            <a:ext cx="384048" cy="384048"/>
          </a:xfrm>
          <a:prstGeom prst="ellipse">
            <a:avLst/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93" y="3962461"/>
            <a:ext cx="176662" cy="17666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7552" y="38404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Listo para crecer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987552" y="4096512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Backends redundantes tras un LB y aprovisionamiento por cloud-init: escalar es agregar instancias.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897880" y="1234440"/>
            <a:ext cx="2834640" cy="3291840"/>
          </a:xfrm>
          <a:prstGeom prst="roundRect">
            <a:avLst>
              <a:gd name="adj" fmla="val 1935"/>
            </a:avLst>
          </a:prstGeom>
          <a:solidFill>
            <a:srgbClr val="F5F7FA"/>
          </a:solidFill>
          <a:ln w="9525">
            <a:solidFill>
              <a:srgbClr val="D9DFE8"/>
            </a:solidFill>
            <a:prstDash val="solid"/>
          </a:ln>
          <a:effectLst>
            <a:outerShdw sx="100000" sy="100000" kx="0" ky="0" algn="bl" rotWithShape="0" blurRad="88900" dist="25400" dir="2700000">
              <a:srgbClr val="8A93A6">
                <a:alpha val="22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60807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futuro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080760" y="1737360"/>
            <a:ext cx="248716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de extremo a extremo (terminación en el LB, puerto 443)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Migraciones formales de BD (Alembic)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mejor spam vs smishing (subtipos, embeddings)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Reentrenamiento periódico con mensajes reportados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· Equipo GJM — Joseph Shakalo · Gabriel Edid · Marcos Dayan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ITChat — Mensajería con detección de amenazas</dc:title>
  <dc:subject>PptxGenJS Presentation</dc:subject>
  <dc:creator>Equipo GJM</dc:creator>
  <cp:lastModifiedBy>Equipo GJM</cp:lastModifiedBy>
  <cp:revision>1</cp:revision>
  <dcterms:created xsi:type="dcterms:W3CDTF">2026-06-11T02:05:20Z</dcterms:created>
  <dcterms:modified xsi:type="dcterms:W3CDTF">2026-06-11T02:05:20Z</dcterms:modified>
</cp:coreProperties>
</file>