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BmqVl8RI7MD7rhXyk2BVaP7u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ECFB44-C2CB-4484-916B-39143557820C}">
  <a:tblStyle styleId="{51ECFB44-C2CB-4484-916B-3914355782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Mensajes</c:v>
                </c:pt>
              </c:strCache>
            </c:strRef>
          </c:tx>
          <c:spPr>
            <a:solidFill>
              <a:srgbClr val="2F5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D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D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D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ham</c:v>
                  </c:pt>
                  <c:pt idx="1">
                    <c:v>spam</c:v>
                  </c:pt>
                  <c:pt idx="2">
                    <c:v>smishing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5133</c:v>
                </c:pt>
                <c:pt idx="1">
                  <c:v>7142</c:v>
                </c:pt>
                <c:pt idx="2">
                  <c:v>7142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472"/>
                </a:solidFill>
                <a:latin typeface="Arial"/>
              </a:rPr>
              <a:t>Macro F1 en el set de prueba (20%)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 (test)</c:v>
                </c:pt>
              </c:strCache>
            </c:strRef>
          </c:tx>
          <c:spPr>
            <a:solidFill>
              <a:srgbClr val="B9C4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4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4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D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Complement
Naive Bayes</c:v>
                  </c:pt>
                  <c:pt idx="1">
                    <c:v>Regresión
Logística</c:v>
                  </c:pt>
                  <c:pt idx="2">
                    <c:v>Linear SVM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0.812</c:v>
                </c:pt>
                <c:pt idx="1">
                  <c:v>0.889</c:v>
                </c:pt>
                <c:pt idx="2">
                  <c:v>0.892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D9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jpg"/><Relationship Id="rId4" Type="http://schemas.openxmlformats.org/officeDocument/2006/relationships/image" Target="../media/image16.jp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5.png"/><Relationship Id="rId7" Type="http://schemas.openxmlformats.org/officeDocument/2006/relationships/image" Target="../media/image70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7.png"/><Relationship Id="rId4" Type="http://schemas.openxmlformats.org/officeDocument/2006/relationships/image" Target="../media/image30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Relationship Id="rId6" Type="http://schemas.openxmlformats.org/officeDocument/2006/relationships/image" Target="../media/image5.png"/><Relationship Id="rId7" Type="http://schemas.openxmlformats.org/officeDocument/2006/relationships/image" Target="../media/image65.png"/><Relationship Id="rId8" Type="http://schemas.openxmlformats.org/officeDocument/2006/relationships/image" Target="../media/image7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24.png"/><Relationship Id="rId5" Type="http://schemas.openxmlformats.org/officeDocument/2006/relationships/image" Target="../media/image40.png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4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73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127248" y="868680"/>
            <a:ext cx="932688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8688" y="94183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3383280" y="86868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F855A"/>
                </a:solidFill>
                <a:latin typeface="Arial"/>
                <a:ea typeface="Arial"/>
                <a:cs typeface="Arial"/>
                <a:sym typeface="Arial"/>
              </a:rPr>
              <a:t>HAM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23944" y="868680"/>
            <a:ext cx="932688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5384" y="94183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4379976" y="86868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120640" y="868680"/>
            <a:ext cx="932688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0" y="94183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5376672" y="86868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SMISHING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ITC</a:t>
            </a:r>
            <a:r>
              <a:rPr b="1" i="0" lang="en-US" sz="6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239572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Detecta. Protege. Conversa seguro.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97280" y="283464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Mensajería en tiempo real con clasificación automática de amenazas mediante Machine Learning,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desplegada sobre infraestructura de red y nube propia.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051560" y="3657600"/>
            <a:ext cx="2286000" cy="82296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051560" y="37947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Joseph Shakalo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051560" y="40873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A01784107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474720" y="3657600"/>
            <a:ext cx="2286000" cy="82296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3474720" y="37947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Gabriel Edid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474720" y="40873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A01782146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897880" y="3657600"/>
            <a:ext cx="2286000" cy="82296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897880" y="37947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Marcos Dayan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897880" y="40873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A01782876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9AA3AF"/>
                </a:solidFill>
              </a:rPr>
              <a:t>Final Assessment · </a:t>
            </a:r>
            <a:r>
              <a:rPr b="0" i="0" lang="en-US" sz="105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Tec de Monterrey · Campus Santa Fe · Junio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VISIÓN DEL PRODUCTO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¿Qué es ITChat?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118872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Aplicación de mensajería directa (1 a 1) en tiempo real. Cada mensaje enviado se clasifica al instante con un modelo de Machine Learning</a:t>
            </a:r>
            <a:r>
              <a:rPr lang="en-US" sz="1300">
                <a:solidFill>
                  <a:srgbClr val="1F2937"/>
                </a:solidFill>
              </a:rPr>
              <a:t>. L</a:t>
            </a: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etiqueta persiste en la base de datos y el destinatario la recibe vía WebSocket junto con el mensaje.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2240280"/>
            <a:ext cx="5212080" cy="713232"/>
          </a:xfrm>
          <a:prstGeom prst="roundRect">
            <a:avLst>
              <a:gd fmla="val 7692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1792" y="2395728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423" y="2504359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170432" y="23317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55A"/>
                </a:solidFill>
                <a:latin typeface="Arial"/>
                <a:ea typeface="Arial"/>
                <a:cs typeface="Arial"/>
                <a:sym typeface="Arial"/>
              </a:rPr>
              <a:t>ham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70432" y="2596896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Mensaje legítimo: conversación normal entre usuarios.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3081528"/>
            <a:ext cx="5212080" cy="713232"/>
          </a:xfrm>
          <a:prstGeom prst="roundRect">
            <a:avLst>
              <a:gd fmla="val 7692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21792" y="3236976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423" y="3345607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1170432" y="317296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70432" y="3438144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Publicidad o mensaje no deseado: promociones, ofertas masivas.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3922776"/>
            <a:ext cx="5212080" cy="713232"/>
          </a:xfrm>
          <a:prstGeom prst="roundRect">
            <a:avLst>
              <a:gd fmla="val 7692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21792" y="407822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423" y="418685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170432" y="401421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smishing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70432" y="4279392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Phishing por SMS: intento de robo de datos o credenciales.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26480" y="1143000"/>
            <a:ext cx="2737888" cy="3566160"/>
          </a:xfrm>
          <a:prstGeom prst="roundRect">
            <a:avLst>
              <a:gd fmla="val 2004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login.png" id="62" name="Google Shape;6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1234440"/>
            <a:ext cx="2555008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6126480" y="4773168"/>
            <a:ext cx="2737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Pantalla de inicio de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Cuatro servicios desacoplados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1828800"/>
            <a:ext cx="2331720" cy="914400"/>
          </a:xfrm>
          <a:prstGeom prst="roundRect">
            <a:avLst>
              <a:gd fmla="val 6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21792" y="205740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36" y="21808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1207008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07008" y="22860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React +  Vite + TS (SPA)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429000" y="1828800"/>
            <a:ext cx="2331720" cy="914400"/>
          </a:xfrm>
          <a:prstGeom prst="roundRect">
            <a:avLst>
              <a:gd fmla="val 6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593592" y="205740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7036" y="21808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4178808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178808" y="22860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FastAPI + SQLAlchemy async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400800" y="1234440"/>
            <a:ext cx="2331720" cy="914400"/>
          </a:xfrm>
          <a:prstGeom prst="roundRect">
            <a:avLst>
              <a:gd fmla="val 6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565392" y="146304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8836" y="158648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7150608" y="1417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ML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150608" y="16916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FastAPI + scikit-learn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400800" y="2514600"/>
            <a:ext cx="2331720" cy="914400"/>
          </a:xfrm>
          <a:prstGeom prst="roundRect">
            <a:avLst>
              <a:gd fmla="val 6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565392" y="274320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8836" y="28666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7150608" y="26974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150608" y="29718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Persistencia relacional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2788920" y="2148840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3"/>
          <p:cNvCxnSpPr/>
          <p:nvPr/>
        </p:nvCxnSpPr>
        <p:spPr>
          <a:xfrm rot="10800000">
            <a:off x="2788920" y="2468880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3"/>
          <p:cNvCxnSpPr/>
          <p:nvPr/>
        </p:nvCxnSpPr>
        <p:spPr>
          <a:xfrm flipH="1" rot="10800000">
            <a:off x="5760720" y="1737360"/>
            <a:ext cx="640080" cy="32004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3"/>
          <p:cNvCxnSpPr/>
          <p:nvPr/>
        </p:nvCxnSpPr>
        <p:spPr>
          <a:xfrm>
            <a:off x="5760720" y="2514600"/>
            <a:ext cx="640080" cy="32004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3"/>
          <p:cNvSpPr/>
          <p:nvPr/>
        </p:nvSpPr>
        <p:spPr>
          <a:xfrm>
            <a:off x="2542032" y="1874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REST + JWT</a:t>
            </a:r>
            <a:endParaRPr b="0" i="0" sz="900" u="none" cap="none" strike="noStrike">
              <a:solidFill>
                <a:srgbClr val="305D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450592" y="254203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endParaRPr b="0" i="0" sz="900" u="none" cap="none" strike="noStrike">
              <a:solidFill>
                <a:srgbClr val="305D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021058" y="1362486"/>
            <a:ext cx="114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r>
              <a:rPr lang="en-US" sz="900">
                <a:solidFill>
                  <a:srgbClr val="305DA8"/>
                </a:solidFill>
              </a:rPr>
              <a:t>S</a:t>
            </a: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 + JWT</a:t>
            </a:r>
            <a:endParaRPr b="0" i="0" sz="900" u="none" cap="none" strike="noStrike">
              <a:solidFill>
                <a:srgbClr val="305D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de servicio</a:t>
            </a:r>
            <a:endParaRPr b="0" i="0" sz="900" u="none" cap="none" strike="noStrike">
              <a:solidFill>
                <a:srgbClr val="305D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974300" y="2916868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SQL async (psycopg)</a:t>
            </a:r>
            <a:endParaRPr b="0" i="0" sz="900" u="none" cap="none" strike="noStrike">
              <a:solidFill>
                <a:srgbClr val="305D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3886200"/>
            <a:ext cx="2679192" cy="868680"/>
          </a:xfrm>
          <a:prstGeom prst="roundRect">
            <a:avLst>
              <a:gd fmla="val 6316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3504" y="4041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969264" y="3986784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7"/>
                </a:solidFill>
              </a:rPr>
              <a:t>Un solo r</a:t>
            </a: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epo </a:t>
            </a:r>
            <a:r>
              <a:rPr lang="en-US" sz="1000">
                <a:solidFill>
                  <a:srgbClr val="1F2937"/>
                </a:solidFill>
              </a:rPr>
              <a:t>con </a:t>
            </a: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dependencias independientes por servicio (uv / npm)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273552" y="3886200"/>
            <a:ext cx="2679192" cy="868680"/>
          </a:xfrm>
          <a:prstGeom prst="roundRect">
            <a:avLst>
              <a:gd fmla="val 6316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19856" y="4041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3785616" y="3986784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Comunicación solo por HTTPS y WebSocket: sin acoplamiento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089904" y="3886200"/>
            <a:ext cx="2679192" cy="868680"/>
          </a:xfrm>
          <a:prstGeom prst="roundRect">
            <a:avLst>
              <a:gd fmla="val 6316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6208" y="4041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6601968" y="3986784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Cada servicio se despliega en su propia instancia de</a:t>
            </a:r>
            <a:r>
              <a:rPr lang="en-US" sz="1000">
                <a:solidFill>
                  <a:srgbClr val="1F2937"/>
                </a:solidFill>
              </a:rPr>
              <a:t> la Nube.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DESARROLLO · 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SPA en React</a:t>
            </a:r>
            <a:r>
              <a:rPr b="1" lang="en-US" sz="2700">
                <a:solidFill>
                  <a:srgbClr val="1F2937"/>
                </a:solidFill>
              </a:rPr>
              <a:t> </a:t>
            </a: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+ TypeScript + Vite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1225296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55" y="1324051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960120" y="1207008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60120" y="1405638"/>
            <a:ext cx="3154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Login/registro (con bio y avatar), Dashboard con sidebar de conversaciones, búsqueda de usuarios y ChatWindow.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2139696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955" y="2238451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960120" y="2121408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2937"/>
                </a:solidFill>
              </a:rPr>
              <a:t>Sesion</a:t>
            </a: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persistente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60120" y="2261367"/>
            <a:ext cx="3154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JWT y datos del usuario en localStorage</a:t>
            </a:r>
            <a:r>
              <a:rPr lang="en-US" sz="1000">
                <a:solidFill>
                  <a:srgbClr val="5B6472"/>
                </a:solidFill>
              </a:rPr>
              <a:t>: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la sesión sobrevive recargas.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3054096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955" y="3152851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960120" y="3035808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Tiempo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96054" y="3146431"/>
            <a:ext cx="3154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2"/>
                </a:solidFill>
              </a:rPr>
              <a:t>U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 único WebSocket por usuario autenticado que reacciona a eventos</a:t>
            </a:r>
            <a:r>
              <a:rPr lang="en-US" sz="1000">
                <a:solidFill>
                  <a:srgbClr val="5B6472"/>
                </a:solidFill>
              </a:rPr>
              <a:t> de mensajes creados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955" y="4067251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960120" y="3950208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Capa de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60120" y="4011939"/>
            <a:ext cx="3154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2"/>
                </a:solidFill>
              </a:rPr>
              <a:t>C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entraliza el fetch REST y la URL del WebSocket vía</a:t>
            </a:r>
            <a:r>
              <a:rPr lang="en-US" sz="1000">
                <a:solidFill>
                  <a:srgbClr val="5B6472"/>
                </a:solidFill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343400" y="1371600"/>
            <a:ext cx="4617720" cy="2986162"/>
          </a:xfrm>
          <a:prstGeom prst="roundRect">
            <a:avLst>
              <a:gd fmla="val 1837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dash_dark.png" id="134" name="Google Shape;13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4840" y="1463040"/>
            <a:ext cx="4434840" cy="280328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4343400" y="446749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Dashboard: cada mensaje llega con su etiqueta de clasificación en tiempo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DESARROLLO · 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UI/UX, accesibilidad y usabilidad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40080" y="1150312"/>
            <a:ext cx="4709100" cy="3032100"/>
          </a:xfrm>
          <a:prstGeom prst="roundRect">
            <a:avLst>
              <a:gd fmla="val 1809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dash_light.png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41752"/>
            <a:ext cx="4526279" cy="284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640080" y="4255709"/>
            <a:ext cx="4709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Modo claro con toggle persistente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989320" y="1150312"/>
            <a:ext cx="2082000" cy="2926200"/>
          </a:xfrm>
          <a:prstGeom prst="roundRect">
            <a:avLst>
              <a:gd fmla="val 2635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register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760" y="1241752"/>
            <a:ext cx="1899137" cy="274319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5989320" y="4149544"/>
            <a:ext cx="208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Registro con validación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0" y="4602353"/>
            <a:ext cx="1975200" cy="457200"/>
          </a:xfrm>
          <a:prstGeom prst="roundRect">
            <a:avLst>
              <a:gd fmla="val 12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4730369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822960" y="4602353"/>
            <a:ext cx="157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Tema claro / oscuro persistente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560320" y="4602353"/>
            <a:ext cx="1975200" cy="457200"/>
          </a:xfrm>
          <a:prstGeom prst="roundRect">
            <a:avLst>
              <a:gd fmla="val 12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0048" y="4730369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2926080" y="4602353"/>
            <a:ext cx="157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Badges con color + icono + 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663440" y="4602353"/>
            <a:ext cx="1975200" cy="457200"/>
          </a:xfrm>
          <a:prstGeom prst="roundRect">
            <a:avLst>
              <a:gd fmla="val 12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168" y="4730369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5029200" y="4602353"/>
            <a:ext cx="157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Estados visibles ante fallos del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766560" y="4602353"/>
            <a:ext cx="1975200" cy="457200"/>
          </a:xfrm>
          <a:prstGeom prst="roundRect">
            <a:avLst>
              <a:gd fmla="val 120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6288" y="4730369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7132320" y="4602353"/>
            <a:ext cx="157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Mostrar / ocultar contraseña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641080" y="482803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DESARROLLO · BACKEND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API REST con FastAPI (async)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{51ECFB44-C2CB-4484-916B-39143557820C}</a:tableStyleId>
              </a:tblPr>
              <a:tblGrid>
                <a:gridCol w="685800"/>
                <a:gridCol w="2240275"/>
                <a:gridCol w="548650"/>
                <a:gridCol w="24688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Método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Ruta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/v1/register · /v1/login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Crear cuenta / iniciar sesión, devuelven 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/v1/users/search?query=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Buscar usuarios por nombre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/v1/conversations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Listar chats del usuario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/v1/conversations/direct/{id}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Crear o recuperar chat directo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/v1/direct_messages/{id}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Historial de mensajes de un chat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/v1/messages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Enviar mensaje → clasifica con el ML service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/v1/ws?token=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Canal push en tiempo real (message_created)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/health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Health check (lo consume el load balancer)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6"/>
          <p:cNvSpPr/>
          <p:nvPr/>
        </p:nvSpPr>
        <p:spPr>
          <a:xfrm>
            <a:off x="6583680" y="1234440"/>
            <a:ext cx="2148840" cy="1115568"/>
          </a:xfrm>
          <a:prstGeom prst="roundRect">
            <a:avLst>
              <a:gd fmla="val 49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9984" y="1362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7059168" y="13441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729984" y="1636776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FastAPI + SQLAlchemy 2.0 async + Uvicorn; driver psycopg (Postgres) y aiosqlite (tests).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583680" y="2478024"/>
            <a:ext cx="2148840" cy="1115568"/>
          </a:xfrm>
          <a:prstGeom prst="roundRect">
            <a:avLst>
              <a:gd fmla="val 49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9984" y="2606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7059168" y="258775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Servicio systemd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729984" y="2880360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itchat-backend.service con Restart=always: si el proceso cae, se reinicia solo en 5 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583680" y="3721608"/>
            <a:ext cx="2148840" cy="1115568"/>
          </a:xfrm>
          <a:prstGeom prst="roundRect">
            <a:avLst>
              <a:gd fmla="val 49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9984" y="3849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7059168" y="38313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Auto-bootstrap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729984" y="4123944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Al arrancar crea la BD itchat y sus tablas si no existen: cero pasos manuales.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DESARROLLO · BACKEND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Tiempo real con WebSockets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" y="1280160"/>
            <a:ext cx="4206240" cy="96012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21792" y="1554480"/>
            <a:ext cx="420624" cy="420624"/>
          </a:xfrm>
          <a:prstGeom prst="ellipse">
            <a:avLst/>
          </a:prstGeom>
          <a:solidFill>
            <a:srgbClr val="2F5D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21792" y="15544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188720" y="140817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188720" y="1664208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frontend abre </a:t>
            </a:r>
            <a:r>
              <a:rPr lang="en-US" sz="1000">
                <a:solidFill>
                  <a:srgbClr val="5B6472"/>
                </a:solidFill>
              </a:rPr>
              <a:t>una sesión con el ws 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al iniciar sesión</a:t>
            </a:r>
            <a:r>
              <a:rPr lang="en-US" sz="1000">
                <a:solidFill>
                  <a:srgbClr val="5B6472"/>
                </a:solidFill>
              </a:rPr>
              <a:t>. </a:t>
            </a:r>
            <a:endParaRPr sz="1000">
              <a:solidFill>
                <a:srgbClr val="5B647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2"/>
                </a:solidFill>
              </a:rPr>
              <a:t>U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 solo socket por usuario, no por chat.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2395728"/>
            <a:ext cx="4206240" cy="96012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21792" y="2670048"/>
            <a:ext cx="420624" cy="420624"/>
          </a:xfrm>
          <a:prstGeom prst="ellipse">
            <a:avLst/>
          </a:prstGeom>
          <a:solidFill>
            <a:srgbClr val="2F5D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21792" y="2670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88720" y="252374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188720" y="2779776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backend valida el JWT del query param y registra la conexión</a:t>
            </a:r>
            <a:r>
              <a:rPr lang="en-US" sz="1000">
                <a:solidFill>
                  <a:srgbClr val="5B6472"/>
                </a:solidFill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57200" y="3511296"/>
            <a:ext cx="4206240" cy="96012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21792" y="3785616"/>
            <a:ext cx="420624" cy="420624"/>
          </a:xfrm>
          <a:prstGeom prst="ellipse">
            <a:avLst/>
          </a:prstGeom>
          <a:solidFill>
            <a:srgbClr val="2F5D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21792" y="37856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188720" y="363931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188720" y="3895344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Al guardarse un mensaje, el backend emite </a:t>
            </a:r>
            <a:r>
              <a:rPr lang="en-US" sz="1000">
                <a:solidFill>
                  <a:srgbClr val="5B6472"/>
                </a:solidFill>
              </a:rPr>
              <a:t>la creación del mensaje 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solo al destinatario conectado.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937760" y="1280160"/>
            <a:ext cx="3794760" cy="3346704"/>
          </a:xfrm>
          <a:prstGeom prst="roundRect">
            <a:avLst>
              <a:gd fmla="val 1639" name="adj"/>
            </a:avLst>
          </a:prstGeom>
          <a:solidFill>
            <a:srgbClr val="232A36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120640" y="138988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EB8C9"/>
                </a:solidFill>
                <a:latin typeface="Arial"/>
                <a:ea typeface="Arial"/>
                <a:cs typeface="Arial"/>
                <a:sym typeface="Arial"/>
              </a:rPr>
              <a:t>Evento recibido por el destinatario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120640" y="1664208"/>
            <a:ext cx="34747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"type": "message_created",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"conversation_id": 1,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"message":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"sender_id": 2,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"content": "Verifica tu cuenta...",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199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8A199"/>
                </a:solidFill>
                <a:latin typeface="Courier New"/>
                <a:ea typeface="Courier New"/>
                <a:cs typeface="Courier New"/>
                <a:sym typeface="Courier New"/>
              </a:rPr>
              <a:t>    "classification_label": "smishing",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"created_at": "2026-06-08T18:00:00Z"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"sender": { "username": "otro_usuario"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PERSISTENCIA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Base de datos relacional (PostgreSQL)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8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{51ECFB44-C2CB-4484-916B-39143557820C}</a:tableStyleId>
              </a:tblPr>
              <a:tblGrid>
                <a:gridCol w="1920250"/>
                <a:gridCol w="3840475"/>
                <a:gridCol w="246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Columnas clave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Relación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A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id, username, email, password_hash, full_name, bio, avatar_url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id, created_at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1:N con messages y participants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conversation_participants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conversation_id, user_id (UNIQUE por par)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Puente N:M usuarios ↔ conversaciones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DA8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5D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messages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conversation_id, sender_id, content, classification_label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N:1 con conversación y remitente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8"/>
          <p:cNvSpPr/>
          <p:nvPr/>
        </p:nvSpPr>
        <p:spPr>
          <a:xfrm>
            <a:off x="457200" y="3520440"/>
            <a:ext cx="2679192" cy="1325880"/>
          </a:xfrm>
          <a:prstGeom prst="roundRect">
            <a:avLst>
              <a:gd fmla="val 413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3648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950976" y="3630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Normalización (3FN)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03504" y="3950208"/>
            <a:ext cx="23957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Sin grupos repetidos ni dependencias parciales o transitivas: los participantes viven en su tabla puente, no en una columna-lista.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273552" y="3520440"/>
            <a:ext cx="2679192" cy="1325880"/>
          </a:xfrm>
          <a:prstGeom prst="roundRect">
            <a:avLst>
              <a:gd fmla="val 413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56" y="3648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3767328" y="3630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Históricos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419856" y="3950208"/>
            <a:ext cx="23957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Todo mensaje queda persistido con su classification_label y created_at: el historial conserva la evidencia de amenazas.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089904" y="3520440"/>
            <a:ext cx="2679192" cy="1325880"/>
          </a:xfrm>
          <a:prstGeom prst="roundRect">
            <a:avLst>
              <a:gd fmla="val 413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6208" y="3648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6583680" y="3630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Producción vs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236208" y="3950208"/>
            <a:ext cx="23957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PostgreSQL (psycopg async) en producción; SQLite en memoria (aiosqlite) en tests.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Defensa en capas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57200" y="1234440"/>
            <a:ext cx="4114800" cy="1078992"/>
          </a:xfrm>
          <a:prstGeom prst="roundRect">
            <a:avLst>
              <a:gd fmla="val 508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03504" y="138074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97" y="1484437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1115568" y="135331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Contraseñas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115568" y="1618488"/>
            <a:ext cx="33101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PBKDF2-HMAC-SHA256 con 600,000 iteraciones + salt aleatorio por usuario. Nunca se guarda texto plano.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709160" y="1234440"/>
            <a:ext cx="4114800" cy="1078992"/>
          </a:xfrm>
          <a:prstGeom prst="roundRect">
            <a:avLst>
              <a:gd fmla="val 508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855464" y="138074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9157" y="1484437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5367528" y="135331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JWT de usuario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367528" y="1618488"/>
            <a:ext cx="33101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Login/registro devuelven token firmado (HS256, expira en 60 min). Endpoints protegidos </a:t>
            </a:r>
            <a:r>
              <a:rPr lang="en-US" sz="950">
                <a:solidFill>
                  <a:srgbClr val="5B6472"/>
                </a:solidFill>
              </a:rPr>
              <a:t>necesitan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Authorization: Bearer.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57200" y="2441448"/>
            <a:ext cx="4114800" cy="1078992"/>
          </a:xfrm>
          <a:prstGeom prst="roundRect">
            <a:avLst>
              <a:gd fmla="val 508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03504" y="2587752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197" y="2691445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/>
          <p:nvPr/>
        </p:nvSpPr>
        <p:spPr>
          <a:xfrm>
            <a:off x="1115568" y="25603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JWT service-to-service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115568" y="2825496"/>
            <a:ext cx="33101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Backend ↔ ML service usan un segundo sistema JWT con secreto, issuer, audience y subject propios, y expiración de 60 segundos.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709160" y="2441448"/>
            <a:ext cx="4114800" cy="1078992"/>
          </a:xfrm>
          <a:prstGeom prst="roundRect">
            <a:avLst>
              <a:gd fmla="val 508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855464" y="2587752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9157" y="2691445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5367528" y="25603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367528" y="2825496"/>
            <a:ext cx="33101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pg_hba.conf solo acepta conexiones del CIDR de los backends, con autenticación scram-sha-256.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57200" y="3648456"/>
            <a:ext cx="4114800" cy="1078992"/>
          </a:xfrm>
          <a:prstGeom prst="roundRect">
            <a:avLst>
              <a:gd fmla="val 508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03504" y="379476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7197" y="3898453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/>
          <p:nvPr/>
        </p:nvSpPr>
        <p:spPr>
          <a:xfrm>
            <a:off x="1115568" y="37673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115568" y="3987147"/>
            <a:ext cx="331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Hacia la red del Tec solo se exponen los puertos 44</a:t>
            </a:r>
            <a:r>
              <a:rPr lang="en-US" sz="950">
                <a:solidFill>
                  <a:srgbClr val="5B6472"/>
                </a:solidFill>
              </a:rPr>
              <a:t>5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y 22; SSH únicamente a través del jump server.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709160" y="3648456"/>
            <a:ext cx="4114800" cy="1078992"/>
          </a:xfrm>
          <a:prstGeom prst="roundRect">
            <a:avLst>
              <a:gd fmla="val 508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855464" y="379476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9157" y="3898453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/>
          <p:nvPr/>
        </p:nvSpPr>
        <p:spPr>
          <a:xfrm>
            <a:off x="5367528" y="37673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367528" y="3975808"/>
            <a:ext cx="331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CORS_ALLOW_ORIGINS limita el origen del frontend permitido en producción.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Dataset: tres fuentes reales reconciliadas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1234440"/>
            <a:ext cx="4160520" cy="896112"/>
          </a:xfrm>
          <a:prstGeom prst="roundRect">
            <a:avLst>
              <a:gd fmla="val 6122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640080" y="1325880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Mishra &amp; Soni (2022)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40080" y="15636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Mendeley · CC BY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" y="17647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Fuente principal: ya trae las 3 clases (ham, spam, smishing).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2258568"/>
            <a:ext cx="4160520" cy="896112"/>
          </a:xfrm>
          <a:prstGeom prst="roundRect">
            <a:avLst>
              <a:gd fmla="val 6122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40080" y="2350008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UCI SMS Spam Collection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40080" y="25877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Benchmark clásico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40080" y="27889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Refuerza ham y spam.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7200" y="3282696"/>
            <a:ext cx="4160520" cy="896112"/>
          </a:xfrm>
          <a:prstGeom prst="roundRect">
            <a:avLst>
              <a:gd fmla="val 6122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40080" y="3374136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Combined Smishing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40080" y="36118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Hosseinpour et 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40080" y="38130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Consolida varias fuentes públicas; refuerza smishing y spam.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4370832"/>
            <a:ext cx="4160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983480" y="1234440"/>
            <a:ext cx="3749040" cy="96012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4983480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19,417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720840" y="138988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mensajes SMS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consolidados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10"/>
          <p:cNvGraphicFramePr/>
          <p:nvPr/>
        </p:nvGraphicFramePr>
        <p:xfrm>
          <a:off x="4983480" y="2377440"/>
          <a:ext cx="3749040" cy="2240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3" name="Google Shape;293;p10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5352118" y="3802004"/>
            <a:ext cx="109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Ham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5347968" y="3206025"/>
            <a:ext cx="109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Spam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5352118" y="2610180"/>
            <a:ext cx="109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Smishing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Pipeline de clasificación (scikit-learn)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57200" y="1371600"/>
            <a:ext cx="2560320" cy="2240280"/>
          </a:xfrm>
          <a:prstGeom prst="roundRect">
            <a:avLst>
              <a:gd fmla="val 2449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03504" y="151790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135" y="162653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1"/>
          <p:cNvSpPr/>
          <p:nvPr/>
        </p:nvSpPr>
        <p:spPr>
          <a:xfrm>
            <a:off x="1115568" y="1554480"/>
            <a:ext cx="1783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FeatureBuilder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58368" y="2011680"/>
            <a:ext cx="21945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clean_text: </a:t>
            </a:r>
            <a:endParaRPr sz="1000">
              <a:solidFill>
                <a:srgbClr val="5B6472"/>
              </a:solidFill>
            </a:endParaRPr>
          </a:p>
          <a:p>
            <a:pPr indent="-177800" lvl="1" marL="62865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○"/>
            </a:pPr>
            <a:r>
              <a:rPr lang="en-US" sz="1000">
                <a:solidFill>
                  <a:srgbClr val="5B6472"/>
                </a:solidFill>
              </a:rPr>
              <a:t>todo 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minúsculas </a:t>
            </a:r>
            <a:endParaRPr b="0" i="0" sz="1000" u="none" cap="none" strike="noStrike">
              <a:solidFill>
                <a:srgbClr val="5B64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62865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URLs → __url__</a:t>
            </a:r>
            <a:endParaRPr sz="1000">
              <a:solidFill>
                <a:srgbClr val="5B6472"/>
              </a:solidFill>
            </a:endParaRPr>
          </a:p>
          <a:p>
            <a:pPr indent="-177800" lvl="1" marL="62865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emails → __email__</a:t>
            </a:r>
            <a:endParaRPr sz="1000">
              <a:solidFill>
                <a:srgbClr val="5B6472"/>
              </a:solidFill>
            </a:endParaRPr>
          </a:p>
          <a:p>
            <a:pPr indent="-177800" lvl="1" marL="62865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teléfonos →</a:t>
            </a:r>
            <a:r>
              <a:rPr lang="en-US" sz="1000">
                <a:solidFill>
                  <a:srgbClr val="5B6472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__phone__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message_length y word_count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digit_count y exclamation_count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291840" y="1371600"/>
            <a:ext cx="2560320" cy="2240280"/>
          </a:xfrm>
          <a:prstGeom prst="roundRect">
            <a:avLst>
              <a:gd fmla="val 2449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3438144" y="151790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6775" y="162653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3950208" y="1554480"/>
            <a:ext cx="1783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ColumnTransformer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493008" y="2011680"/>
            <a:ext cx="2194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TF-IDF (1–2 gramas) sobre clean_text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85750" marR="0" rtl="0" algn="l">
              <a:spcBef>
                <a:spcPts val="40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MaxAbsScaler sobre las 4 features numéricas (normalizaci</a:t>
            </a:r>
            <a:r>
              <a:rPr lang="en-US" sz="1000">
                <a:solidFill>
                  <a:srgbClr val="5B6472"/>
                </a:solidFill>
              </a:rPr>
              <a:t>ón)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85750" marR="0" rtl="0" algn="l">
              <a:spcBef>
                <a:spcPts val="40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Une todo en una sola matriz de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126480" y="1371600"/>
            <a:ext cx="2606040" cy="2240280"/>
          </a:xfrm>
          <a:prstGeom prst="roundRect">
            <a:avLst>
              <a:gd fmla="val 2449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272784" y="151790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415" y="162653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6784848" y="155448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LinearSVC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327648" y="2011680"/>
            <a:ext cx="2240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Clasificador lineal de margen máximo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85750" marR="0" rtl="0" algn="l">
              <a:spcBef>
                <a:spcPts val="40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B6472"/>
                </a:solidFill>
              </a:rPr>
              <a:t>Modelo elegio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tras comparar 3 modelos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85750" marR="0" rtl="0" algn="l">
              <a:spcBef>
                <a:spcPts val="40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Serializado como sms_linear_svm.pkl y cargado con pickle al arrancar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1"/>
          <p:cNvCxnSpPr/>
          <p:nvPr/>
        </p:nvCxnSpPr>
        <p:spPr>
          <a:xfrm>
            <a:off x="3017520" y="24688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11"/>
          <p:cNvCxnSpPr/>
          <p:nvPr/>
        </p:nvCxnSpPr>
        <p:spPr>
          <a:xfrm>
            <a:off x="5852160" y="24688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11"/>
          <p:cNvSpPr/>
          <p:nvPr/>
        </p:nvSpPr>
        <p:spPr>
          <a:xfrm>
            <a:off x="457200" y="3886200"/>
            <a:ext cx="8275320" cy="868680"/>
          </a:xfrm>
          <a:prstGeom prst="roundRect">
            <a:avLst>
              <a:gd fmla="val 6316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40965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1"/>
          <p:cNvSpPr/>
          <p:nvPr/>
        </p:nvSpPr>
        <p:spPr>
          <a:xfrm>
            <a:off x="1051560" y="3986784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Mismo código en entrenamiento y producción: </a:t>
            </a:r>
            <a:r>
              <a:rPr b="0" i="0" lang="en-US" sz="10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FeatureBuilder es un transformer custom dentro del pipeline, así que el .pkl aplica exactamente el mismo preprocesamiento que se usó al entrenar</a:t>
            </a:r>
            <a:r>
              <a:rPr lang="en-US" sz="1050">
                <a:solidFill>
                  <a:srgbClr val="5B6472"/>
                </a:solidFill>
              </a:rPr>
              <a:t>, </a:t>
            </a:r>
            <a:r>
              <a:rPr b="0" i="0" lang="en-US" sz="10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sin divergencia entre notebook y servicio.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Comparación de modelos y resultados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12"/>
          <p:cNvGraphicFramePr/>
          <p:nvPr/>
        </p:nvGraphicFramePr>
        <p:xfrm>
          <a:off x="457200" y="1325880"/>
          <a:ext cx="4663440" cy="3017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33" name="Google Shape;333;p12"/>
          <p:cNvSpPr/>
          <p:nvPr/>
        </p:nvSpPr>
        <p:spPr>
          <a:xfrm>
            <a:off x="5451255" y="1591055"/>
            <a:ext cx="3291900" cy="749700"/>
          </a:xfrm>
          <a:prstGeom prst="roundRect">
            <a:avLst>
              <a:gd fmla="val 7317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5542695" y="1664207"/>
            <a:ext cx="123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0.886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822855" y="1664207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accuracy del Linear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451255" y="2459735"/>
            <a:ext cx="3291900" cy="749700"/>
          </a:xfrm>
          <a:prstGeom prst="roundRect">
            <a:avLst>
              <a:gd fmla="val 7317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5542695" y="2532887"/>
            <a:ext cx="123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0.892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822855" y="2532887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macro F1 del Linear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51255" y="3328415"/>
            <a:ext cx="3291900" cy="749700"/>
          </a:xfrm>
          <a:prstGeom prst="roundRect">
            <a:avLst>
              <a:gd fmla="val 7317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5542695" y="3401567"/>
            <a:ext cx="123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0.94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822855" y="3401567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F1 de la clase ham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modelo como microservicio aislado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57200" y="1371600"/>
            <a:ext cx="3200400" cy="1143000"/>
          </a:xfrm>
          <a:prstGeom prst="roundRect">
            <a:avLst>
              <a:gd fmla="val 48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603504" y="1723644"/>
            <a:ext cx="438912" cy="43891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010" y="184215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/>
          <p:nvPr/>
        </p:nvSpPr>
        <p:spPr>
          <a:xfrm>
            <a:off x="1170432" y="151790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170432" y="1801368"/>
            <a:ext cx="23591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Al recibir</a:t>
            </a:r>
            <a:r>
              <a:rPr lang="en-US" sz="950">
                <a:solidFill>
                  <a:srgbClr val="5B6472"/>
                </a:solidFill>
              </a:rPr>
              <a:t> el mensaje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genera un JWT de servicio y llama al ML service vía http</a:t>
            </a:r>
            <a:r>
              <a:rPr lang="en-US" sz="950">
                <a:solidFill>
                  <a:srgbClr val="5B6472"/>
                </a:solidFill>
              </a:rPr>
              <a:t>x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486400" y="1371600"/>
            <a:ext cx="3246120" cy="1143000"/>
          </a:xfrm>
          <a:prstGeom prst="roundRect">
            <a:avLst>
              <a:gd fmla="val 4800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5632704" y="1723644"/>
            <a:ext cx="438912" cy="43891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1210" y="184215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/>
          <p:nvPr/>
        </p:nvSpPr>
        <p:spPr>
          <a:xfrm>
            <a:off x="6199632" y="151790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ML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6199632" y="1801368"/>
            <a:ext cx="2404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2"/>
                </a:solidFill>
              </a:rPr>
              <a:t>Recibe el mensaje,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valida firma, issuer y audience antes de ejecutar el pipeline y regresar {"label": ...}.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3"/>
          <p:cNvCxnSpPr/>
          <p:nvPr/>
        </p:nvCxnSpPr>
        <p:spPr>
          <a:xfrm>
            <a:off x="3749040" y="178308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" name="Google Shape;361;p13"/>
          <p:cNvCxnSpPr/>
          <p:nvPr/>
        </p:nvCxnSpPr>
        <p:spPr>
          <a:xfrm rot="10800000">
            <a:off x="3749040" y="219456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8A99B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62" name="Google Shape;362;p13"/>
          <p:cNvSpPr/>
          <p:nvPr/>
        </p:nvSpPr>
        <p:spPr>
          <a:xfrm>
            <a:off x="3657600" y="151790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05DA8"/>
                </a:solidFill>
                <a:latin typeface="Arial"/>
                <a:ea typeface="Arial"/>
                <a:cs typeface="Arial"/>
                <a:sym typeface="Arial"/>
              </a:rPr>
              <a:t>POST /predict + JWT 60 s</a:t>
            </a:r>
            <a:endParaRPr b="0" i="0" sz="900" u="none" cap="none" strike="noStrike">
              <a:solidFill>
                <a:srgbClr val="305D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3611880" y="226771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9B5"/>
                </a:solidFill>
                <a:latin typeface="Arial"/>
                <a:ea typeface="Arial"/>
                <a:cs typeface="Arial"/>
                <a:sym typeface="Arial"/>
              </a:rPr>
              <a:t>label: ham | spam | smishing</a:t>
            </a:r>
            <a:endParaRPr b="0" i="0" sz="900" u="none" cap="none" strike="noStrike">
              <a:solidFill>
                <a:srgbClr val="8A99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57200" y="2926080"/>
            <a:ext cx="2679192" cy="169164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03504" y="307238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135" y="318101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603504" y="356616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Resiliencia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03504" y="3840480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Si el ML falla o excede el timeout (5 s), el mensaje se guarda como “unclassified”: el chat nunca se bloquea por el modelo.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273552" y="2926080"/>
            <a:ext cx="2679192" cy="169164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3419856" y="307238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8487" y="318101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/>
          <p:nvPr/>
        </p:nvSpPr>
        <p:spPr>
          <a:xfrm>
            <a:off x="3419856" y="356616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Escalamiento independiente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419856" y="3840480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servicio de inferencia puede escalar o actualizarse (nuevo .pkl) sin tocar el backend ni el frontend.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6089904" y="2926080"/>
            <a:ext cx="2679192" cy="169164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6236208" y="307238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4839" y="3181015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3"/>
          <p:cNvSpPr/>
          <p:nvPr/>
        </p:nvSpPr>
        <p:spPr>
          <a:xfrm>
            <a:off x="6236208" y="356616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Superficie de ataque aislada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6236208" y="3840480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ML service solo acepta tokens del backend</a:t>
            </a:r>
            <a:r>
              <a:rPr lang="en-US" sz="950">
                <a:solidFill>
                  <a:srgbClr val="5B6472"/>
                </a:solidFill>
              </a:rPr>
              <a:t>, j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amás recibe tráfico directo de usuarios.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Vida de un mensaje, </a:t>
            </a:r>
            <a:r>
              <a:rPr b="1" lang="en-US" sz="2700">
                <a:solidFill>
                  <a:srgbClr val="1F2937"/>
                </a:solidFill>
              </a:rPr>
              <a:t>end-to-end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57200" y="1554480"/>
            <a:ext cx="1572768" cy="2331720"/>
          </a:xfrm>
          <a:prstGeom prst="roundRect">
            <a:avLst>
              <a:gd fmla="val 348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960120" y="1755648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191" y="19087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4"/>
          <p:cNvSpPr/>
          <p:nvPr/>
        </p:nvSpPr>
        <p:spPr>
          <a:xfrm>
            <a:off x="530352" y="2487168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 · Envío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66928" y="2798064"/>
            <a:ext cx="13533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emisor escribe y el frontend hace POST /v1/messages con su JWT.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14"/>
          <p:cNvCxnSpPr/>
          <p:nvPr/>
        </p:nvCxnSpPr>
        <p:spPr>
          <a:xfrm>
            <a:off x="2048256" y="2697480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3" name="Google Shape;393;p14"/>
          <p:cNvSpPr/>
          <p:nvPr/>
        </p:nvSpPr>
        <p:spPr>
          <a:xfrm>
            <a:off x="2194560" y="1554480"/>
            <a:ext cx="1572768" cy="2331720"/>
          </a:xfrm>
          <a:prstGeom prst="roundRect">
            <a:avLst>
              <a:gd fmla="val 348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2697480" y="1755648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0551" y="19087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2267712" y="2487168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 · Clasificación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2304288" y="2798064"/>
            <a:ext cx="13533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backend pide la predicción al ML service con un JWT de servicio de 60 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4"/>
          <p:cNvCxnSpPr/>
          <p:nvPr/>
        </p:nvCxnSpPr>
        <p:spPr>
          <a:xfrm>
            <a:off x="3785616" y="2697480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9" name="Google Shape;399;p14"/>
          <p:cNvSpPr/>
          <p:nvPr/>
        </p:nvSpPr>
        <p:spPr>
          <a:xfrm>
            <a:off x="3931920" y="1554480"/>
            <a:ext cx="1572768" cy="2331720"/>
          </a:xfrm>
          <a:prstGeom prst="roundRect">
            <a:avLst>
              <a:gd fmla="val 348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4434840" y="1755648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7911" y="19087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4005072" y="2487168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 · Persistencia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041648" y="2798064"/>
            <a:ext cx="13533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mensaje se guarda en PostgreSQL con su classification_label.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4"/>
          <p:cNvCxnSpPr/>
          <p:nvPr/>
        </p:nvCxnSpPr>
        <p:spPr>
          <a:xfrm>
            <a:off x="5522976" y="2697480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14"/>
          <p:cNvSpPr/>
          <p:nvPr/>
        </p:nvSpPr>
        <p:spPr>
          <a:xfrm>
            <a:off x="5669280" y="1554480"/>
            <a:ext cx="1572768" cy="2331720"/>
          </a:xfrm>
          <a:prstGeom prst="roundRect">
            <a:avLst>
              <a:gd fmla="val 348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6172200" y="1755648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5271" y="19087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5742432" y="2487168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 · Push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5779008" y="2798064"/>
            <a:ext cx="13533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Se emite message_created por WebSocket al destinatario conectado.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4"/>
          <p:cNvCxnSpPr/>
          <p:nvPr/>
        </p:nvCxnSpPr>
        <p:spPr>
          <a:xfrm>
            <a:off x="7260336" y="2697480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2F5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14"/>
          <p:cNvSpPr/>
          <p:nvPr/>
        </p:nvSpPr>
        <p:spPr>
          <a:xfrm>
            <a:off x="7406640" y="1554480"/>
            <a:ext cx="1572768" cy="2331720"/>
          </a:xfrm>
          <a:prstGeom prst="roundRect">
            <a:avLst>
              <a:gd fmla="val 348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7909560" y="1755648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2631" y="19087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4"/>
          <p:cNvSpPr/>
          <p:nvPr/>
        </p:nvSpPr>
        <p:spPr>
          <a:xfrm>
            <a:off x="7479792" y="2487168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 · Alerta visual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7516368" y="2798064"/>
            <a:ext cx="13533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destinatario ve el mensaje con su badge: ham, spam o smishing.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57200" y="4160520"/>
            <a:ext cx="8275320" cy="658368"/>
          </a:xfrm>
          <a:prstGeom prst="roundRect">
            <a:avLst>
              <a:gd fmla="val 8333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43525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4"/>
          <p:cNvSpPr/>
          <p:nvPr/>
        </p:nvSpPr>
        <p:spPr>
          <a:xfrm>
            <a:off x="1024128" y="4224528"/>
            <a:ext cx="7543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Latencia percibida mínima: la clasificación ocurre dentro del mismo request de envío y el destinatario recibe el mensaje ya etiquetado</a:t>
            </a:r>
            <a:r>
              <a:rPr lang="en-US" sz="1050">
                <a:solidFill>
                  <a:srgbClr val="1F2937"/>
                </a:solidFill>
              </a:rPr>
              <a:t>, </a:t>
            </a:r>
            <a:r>
              <a:rPr b="0" i="0" lang="en-US" sz="1050" u="sng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sin estados intermedios visibles</a:t>
            </a: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"/>
          <p:cNvSpPr/>
          <p:nvPr/>
        </p:nvSpPr>
        <p:spPr>
          <a:xfrm>
            <a:off x="4343450" y="1339575"/>
            <a:ext cx="4389000" cy="2757900"/>
          </a:xfrm>
          <a:prstGeom prst="roundRect">
            <a:avLst>
              <a:gd fmla="val 4211" name="adj"/>
            </a:avLst>
          </a:prstGeom>
          <a:solidFill>
            <a:srgbClr val="2F5DA8">
              <a:alpha val="5098"/>
            </a:srgbClr>
          </a:solidFill>
          <a:ln cap="flat" cmpd="sng" w="15875">
            <a:solidFill>
              <a:srgbClr val="2F5DA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Topología física de la red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1643275" y="2955203"/>
            <a:ext cx="1554444" cy="914436"/>
          </a:xfrm>
          <a:prstGeom prst="cloud">
            <a:avLst/>
          </a:prstGeom>
          <a:solidFill>
            <a:srgbClr val="EBEFF5"/>
          </a:solidFill>
          <a:ln cap="flat" cmpd="sng" w="1270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1643225" y="2955215"/>
            <a:ext cx="155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Red Tec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(Internet)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451300" y="1526960"/>
            <a:ext cx="1554444" cy="914436"/>
          </a:xfrm>
          <a:prstGeom prst="cloud">
            <a:avLst/>
          </a:prstGeom>
          <a:solidFill>
            <a:srgbClr val="EBEFF5"/>
          </a:solidFill>
          <a:ln cap="flat" cmpd="sng" w="1270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1451225" y="1526985"/>
            <a:ext cx="155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(OpenStack)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023885" y="2523748"/>
            <a:ext cx="1051500" cy="1051500"/>
          </a:xfrm>
          <a:prstGeom prst="ellipse">
            <a:avLst/>
          </a:prstGeom>
          <a:solidFill>
            <a:srgbClr val="F5F7FA"/>
          </a:solidFill>
          <a:ln cap="flat" cmpd="sng" w="19050">
            <a:solidFill>
              <a:srgbClr val="2F5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5023873" y="2523773"/>
            <a:ext cx="1051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PAT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4572000" y="1554480"/>
            <a:ext cx="1371600" cy="685800"/>
          </a:xfrm>
          <a:prstGeom prst="roundRect">
            <a:avLst>
              <a:gd fmla="val 8000" name="adj"/>
            </a:avLst>
          </a:prstGeom>
          <a:solidFill>
            <a:srgbClr val="F5F7FA"/>
          </a:solidFill>
          <a:ln cap="flat" cmpd="sng" w="15875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4572000" y="155448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Switch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6583680" y="1554480"/>
            <a:ext cx="1371600" cy="685800"/>
          </a:xfrm>
          <a:prstGeom prst="roundRect">
            <a:avLst>
              <a:gd fmla="val 8000" name="adj"/>
            </a:avLst>
          </a:prstGeom>
          <a:solidFill>
            <a:srgbClr val="F5F7FA"/>
          </a:solidFill>
          <a:ln cap="flat" cmpd="sng" w="15875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6583680" y="155448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Switch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6720840" y="2880360"/>
            <a:ext cx="1737360" cy="777240"/>
          </a:xfrm>
          <a:prstGeom prst="roundRect">
            <a:avLst>
              <a:gd fmla="val 7059" name="adj"/>
            </a:avLst>
          </a:prstGeom>
          <a:solidFill>
            <a:srgbClr val="F5F7FA"/>
          </a:solidFill>
          <a:ln cap="flat" cmpd="sng" w="15875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6720840" y="288036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Servidor backend </a:t>
            </a:r>
            <a:r>
              <a:rPr b="1" lang="en-US" sz="1000">
                <a:solidFill>
                  <a:srgbClr val="1F2937"/>
                </a:solidFill>
              </a:rPr>
              <a:t>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172.20.70.</a:t>
            </a:r>
            <a:r>
              <a:rPr b="1" lang="en-US" sz="1000">
                <a:solidFill>
                  <a:srgbClr val="1F2937"/>
                </a:solidFill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15"/>
          <p:cNvCxnSpPr>
            <a:stCxn id="431" idx="3"/>
            <a:endCxn id="435" idx="1"/>
          </p:cNvCxnSpPr>
          <p:nvPr/>
        </p:nvCxnSpPr>
        <p:spPr>
          <a:xfrm flipH="1" rot="10800000">
            <a:off x="3005825" y="1897485"/>
            <a:ext cx="1566300" cy="8670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15"/>
          <p:cNvCxnSpPr/>
          <p:nvPr/>
        </p:nvCxnSpPr>
        <p:spPr>
          <a:xfrm>
            <a:off x="5943600" y="1874520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15"/>
          <p:cNvCxnSpPr/>
          <p:nvPr/>
        </p:nvCxnSpPr>
        <p:spPr>
          <a:xfrm>
            <a:off x="7315200" y="2240280"/>
            <a:ext cx="274320" cy="64008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5"/>
          <p:cNvSpPr/>
          <p:nvPr/>
        </p:nvSpPr>
        <p:spPr>
          <a:xfrm>
            <a:off x="4480560" y="3784743"/>
            <a:ext cx="411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F5DA8"/>
                </a:solidFill>
              </a:rPr>
              <a:t>Red</a:t>
            </a: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50">
                <a:solidFill>
                  <a:srgbClr val="2F5DA8"/>
                </a:solidFill>
              </a:rPr>
              <a:t>infraestructura 3 </a:t>
            </a: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· 172.20.70.0/2</a:t>
            </a: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1050">
                <a:solidFill>
                  <a:srgbClr val="2F5DA8"/>
                </a:solidFill>
              </a:rPr>
              <a:t> · VLAN 3</a:t>
            </a:r>
            <a:endParaRPr b="1" sz="1050">
              <a:solidFill>
                <a:srgbClr val="2F5DA8"/>
              </a:solidFill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228600" y="4297678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812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PAT en el router: reparte la salida a internet a toda la subred privada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85750" marR="0" rtl="0" algn="l"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Hacia la red del Tec solo se exponen los puertos 443 (HTTPS) y 22 (SSH)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85750" marR="0" rtl="0" algn="l"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 VLAN conecta las premisas físicas con la nube OpenStack del laboratorio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15"/>
          <p:cNvCxnSpPr>
            <a:stCxn id="433" idx="3"/>
            <a:endCxn id="437" idx="2"/>
          </p:cNvCxnSpPr>
          <p:nvPr/>
        </p:nvCxnSpPr>
        <p:spPr>
          <a:xfrm flipH="1" rot="10800000">
            <a:off x="6075373" y="2240423"/>
            <a:ext cx="1194000" cy="80910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5"/>
          <p:cNvCxnSpPr>
            <a:stCxn id="429" idx="3"/>
            <a:endCxn id="433" idx="1"/>
          </p:cNvCxnSpPr>
          <p:nvPr/>
        </p:nvCxnSpPr>
        <p:spPr>
          <a:xfrm flipH="1" rot="10800000">
            <a:off x="3197825" y="3049415"/>
            <a:ext cx="1826100" cy="36300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NUBE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Despliegue en OpenStack: </a:t>
            </a:r>
            <a:r>
              <a:rPr b="1" lang="en-US" sz="2700">
                <a:solidFill>
                  <a:srgbClr val="1F2937"/>
                </a:solidFill>
              </a:rPr>
              <a:t>5</a:t>
            </a: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instancias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457200" y="1325880"/>
            <a:ext cx="2194560" cy="1005840"/>
          </a:xfrm>
          <a:prstGeom prst="roundRect">
            <a:avLst>
              <a:gd fmla="val 545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7"/>
          <p:cNvSpPr/>
          <p:nvPr/>
        </p:nvSpPr>
        <p:spPr>
          <a:xfrm>
            <a:off x="932688" y="142646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frontend-gjm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585216" y="1737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nginx sirve el build estático de Vite (SPA fallback con try_files).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57200" y="2514600"/>
            <a:ext cx="2194560" cy="1005840"/>
          </a:xfrm>
          <a:prstGeom prst="roundRect">
            <a:avLst>
              <a:gd fmla="val 545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0" name="Google Shape;4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7"/>
          <p:cNvSpPr/>
          <p:nvPr/>
        </p:nvSpPr>
        <p:spPr>
          <a:xfrm>
            <a:off x="932688" y="261518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lb-gjm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585216" y="29260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nginx como load balancer L7 hacia los dos backends.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3291840" y="1325880"/>
            <a:ext cx="2194560" cy="1005840"/>
          </a:xfrm>
          <a:prstGeom prst="roundRect">
            <a:avLst>
              <a:gd fmla="val 545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9856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7"/>
          <p:cNvSpPr/>
          <p:nvPr/>
        </p:nvSpPr>
        <p:spPr>
          <a:xfrm>
            <a:off x="3767328" y="142646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backend1-gjm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3419856" y="1737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FastAPI como servicio systemd (Restart=always).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3291840" y="2514600"/>
            <a:ext cx="2194500" cy="1005900"/>
          </a:xfrm>
          <a:prstGeom prst="roundRect">
            <a:avLst>
              <a:gd fmla="val 545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9856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/>
          <p:nvPr/>
        </p:nvSpPr>
        <p:spPr>
          <a:xfrm>
            <a:off x="3767328" y="2615184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backend2-gjm </a:t>
            </a:r>
            <a:r>
              <a:rPr b="1" i="0" lang="en-US" sz="1200" u="none" cap="none" strike="noStrike">
                <a:solidFill>
                  <a:srgbClr val="1F2937"/>
                </a:solidFill>
              </a:rPr>
              <a:t>(</a:t>
            </a:r>
            <a:r>
              <a:rPr b="1" lang="en-US" sz="1200">
                <a:solidFill>
                  <a:srgbClr val="1F2937"/>
                </a:solidFill>
              </a:rPr>
              <a:t>no levantado)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3419856" y="29260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lang="en-US" sz="850" u="sng">
                <a:solidFill>
                  <a:srgbClr val="5B6472"/>
                </a:solidFill>
              </a:rPr>
              <a:t>Posibilidad de crecimiento</a:t>
            </a:r>
            <a:r>
              <a:rPr lang="en-US" sz="850">
                <a:solidFill>
                  <a:srgbClr val="5B6472"/>
                </a:solidFill>
              </a:rPr>
              <a:t> - </a:t>
            </a: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Réplica idéntica: redundancia activa-activa.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6126480" y="1325880"/>
            <a:ext cx="2194560" cy="1005840"/>
          </a:xfrm>
          <a:prstGeom prst="roundRect">
            <a:avLst>
              <a:gd fmla="val 545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4496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7"/>
          <p:cNvSpPr/>
          <p:nvPr/>
        </p:nvSpPr>
        <p:spPr>
          <a:xfrm>
            <a:off x="6601968" y="142646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db-gjm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254496" y="1737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PostgreSQL dedicado; acceso solo desde el CIDR de backends.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126480" y="2514600"/>
            <a:ext cx="2194560" cy="1005840"/>
          </a:xfrm>
          <a:prstGeom prst="roundRect">
            <a:avLst>
              <a:gd fmla="val 545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4496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7"/>
          <p:cNvSpPr/>
          <p:nvPr/>
        </p:nvSpPr>
        <p:spPr>
          <a:xfrm>
            <a:off x="6601968" y="261518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jump-server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6254496" y="29260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Único punto de administración SSH de toda la red.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17"/>
          <p:cNvCxnSpPr/>
          <p:nvPr/>
        </p:nvCxnSpPr>
        <p:spPr>
          <a:xfrm flipH="1" rot="10800000">
            <a:off x="2670048" y="1920240"/>
            <a:ext cx="594360" cy="91440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17"/>
          <p:cNvCxnSpPr/>
          <p:nvPr/>
        </p:nvCxnSpPr>
        <p:spPr>
          <a:xfrm>
            <a:off x="2670048" y="3017520"/>
            <a:ext cx="594360" cy="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17"/>
          <p:cNvCxnSpPr/>
          <p:nvPr/>
        </p:nvCxnSpPr>
        <p:spPr>
          <a:xfrm>
            <a:off x="5504688" y="1828800"/>
            <a:ext cx="594360" cy="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17"/>
          <p:cNvCxnSpPr/>
          <p:nvPr/>
        </p:nvCxnSpPr>
        <p:spPr>
          <a:xfrm flipH="1" rot="10800000">
            <a:off x="5504688" y="1920240"/>
            <a:ext cx="594360" cy="1097280"/>
          </a:xfrm>
          <a:prstGeom prst="straightConnector1">
            <a:avLst/>
          </a:prstGeom>
          <a:noFill/>
          <a:ln cap="flat" cmpd="sng" w="19050">
            <a:solidFill>
              <a:srgbClr val="8A99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3" name="Google Shape;483;p17"/>
          <p:cNvSpPr/>
          <p:nvPr/>
        </p:nvSpPr>
        <p:spPr>
          <a:xfrm>
            <a:off x="457200" y="3794760"/>
            <a:ext cx="8275320" cy="1005840"/>
          </a:xfrm>
          <a:prstGeom prst="roundRect">
            <a:avLst>
              <a:gd fmla="val 5455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4" name="Google Shape;48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" y="39502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7"/>
          <p:cNvSpPr/>
          <p:nvPr/>
        </p:nvSpPr>
        <p:spPr>
          <a:xfrm>
            <a:off x="1024125" y="3886200"/>
            <a:ext cx="7548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Diseño escalable, seguro y redundante: </a:t>
            </a:r>
            <a:r>
              <a:rPr b="0" i="0" lang="en-US" sz="10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el LB permite agregar más backends sin tocar el frontend</a:t>
            </a:r>
            <a:r>
              <a:rPr lang="en-US" sz="1050">
                <a:solidFill>
                  <a:srgbClr val="5B6472"/>
                </a:solidFill>
              </a:rPr>
              <a:t>,</a:t>
            </a:r>
            <a:r>
              <a:rPr b="0" i="0" lang="en-US" sz="10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los security groups restringen cada capa (SSH solo desde </a:t>
            </a:r>
            <a:r>
              <a:rPr lang="en-US" sz="1050">
                <a:solidFill>
                  <a:srgbClr val="5B6472"/>
                </a:solidFill>
              </a:rPr>
              <a:t>dentro de la red</a:t>
            </a:r>
            <a:r>
              <a:rPr b="0" i="0" lang="en-US" sz="10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, Postgres solo desde los backends) y la caída de un backend no tira el servicio.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9AA3AF"/>
                </a:solidFill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8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NUBE · CONFIGURACIONES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Infraestructura como código con cloud-init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457200" y="1234440"/>
            <a:ext cx="4892040" cy="804672"/>
          </a:xfrm>
          <a:prstGeom prst="roundRect">
            <a:avLst>
              <a:gd fmla="val 68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3441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8"/>
          <p:cNvSpPr/>
          <p:nvPr/>
        </p:nvSpPr>
        <p:spPr>
          <a:xfrm>
            <a:off x="950976" y="130759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F5DA8"/>
                </a:solidFill>
                <a:latin typeface="Courier New"/>
                <a:ea typeface="Courier New"/>
                <a:cs typeface="Courier New"/>
                <a:sym typeface="Courier New"/>
              </a:rPr>
              <a:t>gjm-front-cloud-init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950976" y="1563624"/>
            <a:ext cx="43159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Instala Node 20 + nginx, clona el repo, hace npm ci &amp;&amp; npm run build y publica dist/ en /var/www/html.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457200" y="2148840"/>
            <a:ext cx="4892040" cy="804672"/>
          </a:xfrm>
          <a:prstGeom prst="roundRect">
            <a:avLst>
              <a:gd fmla="val 68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22585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8"/>
          <p:cNvSpPr/>
          <p:nvPr/>
        </p:nvSpPr>
        <p:spPr>
          <a:xfrm>
            <a:off x="950976" y="222199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F5DA8"/>
                </a:solidFill>
                <a:latin typeface="Courier New"/>
                <a:ea typeface="Courier New"/>
                <a:cs typeface="Courier New"/>
                <a:sym typeface="Courier New"/>
              </a:rPr>
              <a:t>gjm-back{1,2}-cloud-init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950976" y="2478024"/>
            <a:ext cx="43159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Instala uv, clona el repo, escribe /etc/itchat/backend.env y registra itchat-backend.service en systemd.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457200" y="3063240"/>
            <a:ext cx="4892040" cy="804672"/>
          </a:xfrm>
          <a:prstGeom prst="roundRect">
            <a:avLst>
              <a:gd fmla="val 68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3172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8"/>
          <p:cNvSpPr/>
          <p:nvPr/>
        </p:nvSpPr>
        <p:spPr>
          <a:xfrm>
            <a:off x="950976" y="313639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F5DA8"/>
                </a:solidFill>
                <a:latin typeface="Courier New"/>
                <a:ea typeface="Courier New"/>
                <a:cs typeface="Courier New"/>
                <a:sym typeface="Courier New"/>
              </a:rPr>
              <a:t>gjm-db-cloud-init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950976" y="3392424"/>
            <a:ext cx="43159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Instala PostgreSQL, habilita listen_addresses='*' y restringe pg_hba al CIDR de backends con scram-sha-256.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457200" y="3977640"/>
            <a:ext cx="4892040" cy="804672"/>
          </a:xfrm>
          <a:prstGeom prst="roundRect">
            <a:avLst>
              <a:gd fmla="val 681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7" name="Google Shape;5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4087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8"/>
          <p:cNvSpPr/>
          <p:nvPr/>
        </p:nvSpPr>
        <p:spPr>
          <a:xfrm>
            <a:off x="950976" y="4050792"/>
            <a:ext cx="4297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F5DA8"/>
                </a:solidFill>
                <a:latin typeface="Courier New"/>
                <a:ea typeface="Courier New"/>
                <a:cs typeface="Courier New"/>
                <a:sym typeface="Courier New"/>
              </a:rPr>
              <a:t>gjm-lb-cloud-init + itchat.conf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950976" y="4306824"/>
            <a:ext cx="43159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Despliega el nginx balanceador con el upstream de los dos backends.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5577840" y="1234440"/>
            <a:ext cx="3154680" cy="1115568"/>
          </a:xfrm>
          <a:prstGeom prst="roundRect">
            <a:avLst>
              <a:gd fmla="val 4918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5724144" y="137160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2" name="Google Shape;5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2899" y="1470355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8"/>
          <p:cNvSpPr/>
          <p:nvPr/>
        </p:nvSpPr>
        <p:spPr>
          <a:xfrm>
            <a:off x="6199632" y="1380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Reproducible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5724144" y="1709928"/>
            <a:ext cx="28529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Levantar una instancia nueva = pegar su cloud-init. Cero configuración manual.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5577840" y="2478024"/>
            <a:ext cx="3154680" cy="1115568"/>
          </a:xfrm>
          <a:prstGeom prst="roundRect">
            <a:avLst>
              <a:gd fmla="val 4918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5724144" y="2615184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2899" y="2713939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8"/>
          <p:cNvSpPr/>
          <p:nvPr/>
        </p:nvSpPr>
        <p:spPr>
          <a:xfrm>
            <a:off x="6199632" y="262432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Secretos como plantilla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5724144" y="2953512"/>
            <a:ext cx="28529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Placeholders (__JWT_SECRET_KEY__, __DB_PRIVATE_IP__) se inyectan al desplegar: nada sensible en el repo.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5577840" y="3721608"/>
            <a:ext cx="3154680" cy="1115568"/>
          </a:xfrm>
          <a:prstGeom prst="roundRect">
            <a:avLst>
              <a:gd fmla="val 4918" name="adj"/>
            </a:avLst>
          </a:prstGeom>
          <a:solidFill>
            <a:srgbClr val="EBEFF5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8"/>
          <p:cNvSpPr/>
          <p:nvPr/>
        </p:nvSpPr>
        <p:spPr>
          <a:xfrm>
            <a:off x="5724144" y="3858768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2" name="Google Shape;52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22899" y="3957523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8"/>
          <p:cNvSpPr/>
          <p:nvPr/>
        </p:nvSpPr>
        <p:spPr>
          <a:xfrm>
            <a:off x="6199632" y="386791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Auto-recuperación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5724144" y="4197096"/>
            <a:ext cx="28529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systemd reinicia el backend ante cualquier caída (RestartSec=5).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9AA3AF"/>
                </a:solidFill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NUBE · ALTA DISPONIBILIDAD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Load balancer nginx: escalable y redundante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457200" y="1280160"/>
            <a:ext cx="4297680" cy="3474720"/>
          </a:xfrm>
          <a:prstGeom prst="roundRect">
            <a:avLst>
              <a:gd fmla="val 1579" name="adj"/>
            </a:avLst>
          </a:prstGeom>
          <a:solidFill>
            <a:srgbClr val="232A36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640080" y="1389888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C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EB8C9"/>
                </a:solidFill>
                <a:latin typeface="Arial"/>
                <a:ea typeface="Arial"/>
                <a:cs typeface="Arial"/>
                <a:sym typeface="Arial"/>
              </a:rPr>
              <a:t>/etc/nginx/conf.d/itchat.conf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640080" y="1664208"/>
            <a:ext cx="39776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upstream itchat_backend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least_conn;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server back1:8000 max_fails=3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fail_timeout=30s;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server back2:8000 max_fails=3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fail_timeout=30s;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keepalive 32;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location /v1/ws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proxy_set_header Upgrade ...;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    proxy_read_timeout 3600s;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A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5029200" y="1298448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7" name="Google Shape;5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7955" y="1397203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9"/>
          <p:cNvSpPr/>
          <p:nvPr/>
        </p:nvSpPr>
        <p:spPr>
          <a:xfrm>
            <a:off x="5532120" y="128016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least_conn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5532120" y="152704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Cada request va al backend con menos conexiones activas: mejor que round-robin con WebSockets de larga vida.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5029200" y="2185416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1" name="Google Shape;5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7955" y="2284171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9"/>
          <p:cNvSpPr/>
          <p:nvPr/>
        </p:nvSpPr>
        <p:spPr>
          <a:xfrm>
            <a:off x="5532120" y="21671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Health checks pasivos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5532120" y="2384858"/>
            <a:ext cx="320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Tras 3 fallos, el backend se saca de rotación 30 s. /health sin auth permite sondear el estado.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5029200" y="3072384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5" name="Google Shape;5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7955" y="3171139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9"/>
          <p:cNvSpPr/>
          <p:nvPr/>
        </p:nvSpPr>
        <p:spPr>
          <a:xfrm>
            <a:off x="5532120" y="3054096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WebSockets de larga vida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5532120" y="3252387"/>
            <a:ext cx="320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2"/>
                </a:solidFill>
              </a:rPr>
              <a:t>Se hace u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pgrade de protocolo en /v1/ws y proxy_read_timeout de </a:t>
            </a:r>
            <a:r>
              <a:rPr lang="en-US" sz="950">
                <a:solidFill>
                  <a:srgbClr val="5B6472"/>
                </a:solidFill>
              </a:rPr>
              <a:t>1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h para no cortar sockets activos.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5029200" y="3959352"/>
            <a:ext cx="365760" cy="365760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7955" y="4058107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9"/>
          <p:cNvSpPr/>
          <p:nvPr/>
        </p:nvSpPr>
        <p:spPr>
          <a:xfrm>
            <a:off x="5532120" y="3941064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keepalive 32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5532120" y="4149074"/>
            <a:ext cx="320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Reutiliza conexiones LB→backend, reduciendo latencia por handshake.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8650799" y="482803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A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>
                <a:solidFill>
                  <a:srgbClr val="9AA3AF"/>
                </a:solidFill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Pruebas realizadas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457200" y="1280160"/>
            <a:ext cx="2679192" cy="3429000"/>
          </a:xfrm>
          <a:prstGeom prst="roundRect">
            <a:avLst>
              <a:gd fmla="val 204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603504" y="1444752"/>
            <a:ext cx="438912" cy="43891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010" y="1563258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0"/>
          <p:cNvSpPr/>
          <p:nvPr/>
        </p:nvSpPr>
        <p:spPr>
          <a:xfrm>
            <a:off x="603504" y="2011680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Backend · 17 tests (pytest)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640080" y="2514600"/>
            <a:ext cx="23408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Corren con SQLite en memoria y un stub del modelo: no requieren Postgres ni el .pkl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Cubren auth, conversaciones, mensajes y el contrato con el ML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uv run pytest en CI o local, en segundos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273552" y="1280160"/>
            <a:ext cx="2679192" cy="3429000"/>
          </a:xfrm>
          <a:prstGeom prst="roundRect">
            <a:avLst>
              <a:gd fmla="val 204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3419856" y="1444752"/>
            <a:ext cx="438912" cy="43891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7" name="Google Shape;5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362" y="1563258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0"/>
          <p:cNvSpPr/>
          <p:nvPr/>
        </p:nvSpPr>
        <p:spPr>
          <a:xfrm>
            <a:off x="3419856" y="2011680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Modelo · Evaluación formal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3456432" y="2514600"/>
            <a:ext cx="23408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Split 80/20 estratificado por clase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Classification report y matrices de confusión por modelo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Pruebas con mensajes nuevos fuera del dataset (sanity check)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6089904" y="1280160"/>
            <a:ext cx="2679192" cy="3429000"/>
          </a:xfrm>
          <a:prstGeom prst="roundRect">
            <a:avLst>
              <a:gd fmla="val 2048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6236208" y="1444752"/>
            <a:ext cx="438912" cy="43891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2" name="Google Shape;5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4714" y="1563258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0"/>
          <p:cNvSpPr/>
          <p:nvPr/>
        </p:nvSpPr>
        <p:spPr>
          <a:xfrm>
            <a:off x="6236208" y="2011680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Infraestructura · End-to-end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6272784" y="2514600"/>
            <a:ext cx="23408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Health checks del LB contra /health de cada backend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Conectividad SSH por la cadena</a:t>
            </a:r>
            <a:r>
              <a:rPr lang="en-US" sz="950">
                <a:solidFill>
                  <a:srgbClr val="5B6472"/>
                </a:solidFill>
              </a:rPr>
              <a:t>: 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aptop 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→ PAT </a:t>
            </a: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→ jump → instancias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Flujo completo verificado: login, chat y clasificación en vivo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F"/>
                </a:solidFill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Conclusiones y trabajo futuro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4" name="Google Shape;5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893" y="1356421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1"/>
          <p:cNvSpPr/>
          <p:nvPr/>
        </p:nvSpPr>
        <p:spPr>
          <a:xfrm>
            <a:off x="987552" y="12344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Sistema completo y funcional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987552" y="1393278"/>
            <a:ext cx="461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De la UI al fierro: SPA, API, ML, base de datos, VLAN propia y despliegue automatizado en OpenStack.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8" name="Google Shape;5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893" y="2225101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1"/>
          <p:cNvSpPr/>
          <p:nvPr/>
        </p:nvSpPr>
        <p:spPr>
          <a:xfrm>
            <a:off x="987552" y="21031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ML honesto y explicable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987552" y="2261958"/>
            <a:ext cx="461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Linear SVM con macro F1 de 0.892 sobre 19,417 mensajes reales</a:t>
            </a:r>
            <a:r>
              <a:rPr lang="en-US" sz="1000">
                <a:solidFill>
                  <a:srgbClr val="5B6472"/>
                </a:solidFill>
              </a:rPr>
              <a:t>,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los errores restantes están entre spam y smishing, las clases más parecidas.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457200" y="2990088"/>
            <a:ext cx="384048" cy="384048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2" name="Google Shape;5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893" y="3093781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1"/>
          <p:cNvSpPr/>
          <p:nvPr/>
        </p:nvSpPr>
        <p:spPr>
          <a:xfrm>
            <a:off x="987552" y="297180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Seguridad en cada capa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987552" y="3140358"/>
            <a:ext cx="461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PBKDF2, doble JWT, scram-sha-256, security groups y un único punto de entrada SSH.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457200" y="3858768"/>
            <a:ext cx="384048" cy="384048"/>
          </a:xfrm>
          <a:prstGeom prst="ellipse">
            <a:avLst/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6" name="Google Shape;5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893" y="3962461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1"/>
          <p:cNvSpPr/>
          <p:nvPr/>
        </p:nvSpPr>
        <p:spPr>
          <a:xfrm>
            <a:off x="987552" y="38404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Listo para crecer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987552" y="3999318"/>
            <a:ext cx="461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0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redundantes tras un LB y aprovisionamiento por cloud-init: escalar es agregar instancias.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5897880" y="1234440"/>
            <a:ext cx="2834640" cy="3291840"/>
          </a:xfrm>
          <a:prstGeom prst="roundRect">
            <a:avLst>
              <a:gd fmla="val 1935" name="adj"/>
            </a:avLst>
          </a:prstGeom>
          <a:solidFill>
            <a:srgbClr val="F5F7FA"/>
          </a:solidFill>
          <a:ln cap="flat" cmpd="sng" w="9525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8A93A6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6080760" y="1371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A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5DA8"/>
                </a:solidFill>
                <a:latin typeface="Arial"/>
                <a:ea typeface="Arial"/>
                <a:cs typeface="Arial"/>
                <a:sym typeface="Arial"/>
              </a:rPr>
              <a:t>Trabajo futuro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6080760" y="1737360"/>
            <a:ext cx="248716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8125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Migraciones formales de BD (Alembic)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Distinguir mejor spam vs smishing (subtipos, embeddings)</a:t>
            </a:r>
            <a:endParaRPr b="0" i="0" sz="105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125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050"/>
              <a:buChar char="•"/>
            </a:pPr>
            <a:r>
              <a:rPr lang="en-US" sz="1050">
                <a:solidFill>
                  <a:srgbClr val="1F2937"/>
                </a:solidFill>
              </a:rPr>
              <a:t>Creación de chats en grupo</a:t>
            </a:r>
            <a:endParaRPr sz="1050">
              <a:solidFill>
                <a:srgbClr val="1F2937"/>
              </a:solidFill>
            </a:endParaRPr>
          </a:p>
          <a:p>
            <a:pPr indent="-238125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050"/>
              <a:buChar char="•"/>
            </a:pPr>
            <a:r>
              <a:rPr lang="en-US" sz="1050">
                <a:solidFill>
                  <a:srgbClr val="1F2937"/>
                </a:solidFill>
              </a:rPr>
              <a:t>Modelo de reconocimiento de </a:t>
            </a:r>
            <a:r>
              <a:rPr lang="en-US" sz="1050">
                <a:solidFill>
                  <a:srgbClr val="1F2937"/>
                </a:solidFill>
              </a:rPr>
              <a:t>imágenes</a:t>
            </a:r>
            <a:r>
              <a:rPr lang="en-US" sz="1050">
                <a:solidFill>
                  <a:srgbClr val="1F2937"/>
                </a:solidFill>
              </a:rPr>
              <a:t> sensibles</a:t>
            </a:r>
            <a:endParaRPr sz="1050">
              <a:solidFill>
                <a:srgbClr val="1F2937"/>
              </a:solidFill>
            </a:endParaRPr>
          </a:p>
          <a:p>
            <a:pPr indent="-238125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Reentrenamiento periódico con mensajes reportados</a:t>
            </a:r>
            <a:endParaRPr sz="1050">
              <a:solidFill>
                <a:srgbClr val="1F2937"/>
              </a:solidFill>
            </a:endParaRPr>
          </a:p>
          <a:p>
            <a:pPr indent="-238125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050"/>
              <a:buChar char="•"/>
            </a:pPr>
            <a:r>
              <a:rPr lang="en-US" sz="1050">
                <a:solidFill>
                  <a:srgbClr val="1F2937"/>
                </a:solidFill>
              </a:rPr>
              <a:t>Levantar una instancia más de Backend para el Load Balancer (falta de instancias)</a:t>
            </a:r>
            <a:endParaRPr sz="1050">
              <a:solidFill>
                <a:srgbClr val="1F2937"/>
              </a:solidFill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B6472"/>
                </a:solidFill>
              </a:rPr>
              <a:t>¡</a:t>
            </a:r>
            <a:r>
              <a:rPr b="1" i="0" lang="en-US" sz="11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Gracias!</a:t>
            </a:r>
            <a:endParaRPr b="1" sz="1150">
              <a:solidFill>
                <a:srgbClr val="5B6472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Joseph Shakalo · Gabriel Edid · Marcos Dayan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3AF"/>
                </a:solidFill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2026-06-11T02:05:20Z</dcterms:created>
  <dc:creator>Equipo GJM</dc:creator>
</cp:coreProperties>
</file>